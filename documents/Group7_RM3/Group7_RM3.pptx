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9144000"/>
  <p:embeddedFontLst>
    <p:embeddedFont>
      <p:font typeface="Play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iIqq7bEPXC75wdGcxPohWtXYaE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Play-bold.fntdata"/><Relationship Id="rId12" Type="http://schemas.openxmlformats.org/officeDocument/2006/relationships/slide" Target="slides/slide8.xml"/><Relationship Id="rId34" Type="http://schemas.openxmlformats.org/officeDocument/2006/relationships/font" Target="fonts/Play-regular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P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90a3de980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490a3de980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0a3de980_3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490a3de980_3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90a3de980_3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490a3de980_3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90a3de980_3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490a3de980_3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90a3de980_3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490a3de980_3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90a3de980_3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490a3de980_3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166951fd9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8166951fd9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166951fd9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8166951fd9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166951fd9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8166951fd9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166951fd9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8166951fd9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166951fd9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8166951fd9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166951fd9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8166951fd9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166951fd9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8166951fd9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166951fd9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8166951fd9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90a3de980_3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490a3de980_3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90a3de980_3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490a3de980_3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90a3de980_3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490a3de980_3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90b27b977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490b27b977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90a3de980_3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490a3de980_3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90a3de980_4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490a3de980_4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490a3de980_4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490a3de980_4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490a3de980_4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490a3de980_4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490a3de980_3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g3490a3de980_3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90a3de980_4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490a3de980_4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490a3de980_4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90a3de980_4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490a3de980_4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490a3de980_4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490a3de980_4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490a3de980_4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490a3de980_4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t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32.png"/><Relationship Id="rId6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IaA68dtC_jSIXdVgOHwUMkk-3AqUmlrW/view" TargetMode="External"/><Relationship Id="rId4" Type="http://schemas.openxmlformats.org/officeDocument/2006/relationships/image" Target="../media/image11.jpg"/><Relationship Id="rId5" Type="http://schemas.openxmlformats.org/officeDocument/2006/relationships/hyperlink" Target="http://drive.google.com/file/d/1tsfKDQ1YE_4e3JOLXpZii1M9lQ5_8FLQ/view" TargetMode="External"/><Relationship Id="rId6" Type="http://schemas.openxmlformats.org/officeDocument/2006/relationships/image" Target="../media/image1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TM5YeI1TgiVsAS6Gh7iHGCA-ADGLN4Sg/view" TargetMode="External"/><Relationship Id="rId4" Type="http://schemas.openxmlformats.org/officeDocument/2006/relationships/image" Target="../media/image13.jpg"/><Relationship Id="rId5" Type="http://schemas.openxmlformats.org/officeDocument/2006/relationships/hyperlink" Target="http://drive.google.com/file/d/1evQ4rMoJGoKqCLyvSwdOz0QbrR7mOax_/view" TargetMode="External"/><Relationship Id="rId6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rive.google.com/file/d/1QKb3gzb3RaBthSOr-u7Uci2UmAgIqZvc/view" TargetMode="External"/><Relationship Id="rId4" Type="http://schemas.openxmlformats.org/officeDocument/2006/relationships/image" Target="../media/image19.jpg"/><Relationship Id="rId5" Type="http://schemas.openxmlformats.org/officeDocument/2006/relationships/hyperlink" Target="http://drive.google.com/file/d/1IMbWnTMSQluMKO1NtWr-SNzQHUOKvVEb/view" TargetMode="External"/><Relationship Id="rId6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drive.google.com/file/d/1q7Rh4VvsFyGvIdm0MeS0HsIoBafM76EZ/view" TargetMode="External"/><Relationship Id="rId4" Type="http://schemas.openxmlformats.org/officeDocument/2006/relationships/image" Target="../media/image22.jpg"/><Relationship Id="rId5" Type="http://schemas.openxmlformats.org/officeDocument/2006/relationships/hyperlink" Target="http://drive.google.com/file/d/104-ZGlaVl6JGdWwuwX93PPNx3EPDLbEB/view" TargetMode="External"/><Relationship Id="rId6" Type="http://schemas.openxmlformats.org/officeDocument/2006/relationships/image" Target="../media/image1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Relationship Id="rId4" Type="http://schemas.openxmlformats.org/officeDocument/2006/relationships/hyperlink" Target="http://drive.google.com/file/d/1tvTUuXv-l9pyglN_C6um-lQhGqOvs5Zs/view" TargetMode="External"/><Relationship Id="rId5" Type="http://schemas.openxmlformats.org/officeDocument/2006/relationships/image" Target="../media/image2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png"/><Relationship Id="rId4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66577"/>
            <a:ext cx="9144000" cy="13294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1" lang="pt-PT"/>
              <a:t>Review Meeting 3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2626895"/>
            <a:ext cx="9144000" cy="1008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PT"/>
              <a:t>Build your own Radar System, Project Course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968557" y="3766651"/>
            <a:ext cx="6254885" cy="1908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Bingxue Xu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Nikita Dubrovskyi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Rafael Rodrigues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Stefano Crescenza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968557" y="6117105"/>
            <a:ext cx="62548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Tuesday, </a:t>
            </a:r>
            <a:r>
              <a:rPr lang="pt-PT" sz="2000">
                <a:solidFill>
                  <a:schemeClr val="dk1"/>
                </a:solidFill>
              </a:rPr>
              <a:t>23</a:t>
            </a: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/09/2025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pt-PT"/>
              <a:t>Week Achievements</a:t>
            </a:r>
            <a:endParaRPr b="1"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sz="2400"/>
              <a:t>1. Velocity Measurements in CW mode: single and multiple targets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pt-PT" sz="2400"/>
              <a:t>2. </a:t>
            </a:r>
            <a:r>
              <a:rPr lang="pt-PT" sz="2400"/>
              <a:t>Range Measurements in FMCW mode: single</a:t>
            </a:r>
            <a:r>
              <a:rPr lang="pt-PT" sz="2400"/>
              <a:t> and multiple targets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pt-PT" sz="2400"/>
              <a:t>3. </a:t>
            </a:r>
            <a:r>
              <a:rPr lang="pt-PT" sz="2400"/>
              <a:t>Range-Doppler Measurements in FMCW mode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pt-PT" sz="2400"/>
              <a:t>4. Real-time Measurements: CW and FMCW mode [Extra Task]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pt-PT" sz="2400"/>
              <a:t>FMCW Radar Tasks: </a:t>
            </a:r>
            <a:r>
              <a:rPr lang="pt-PT" sz="2400"/>
              <a:t>[Extra Task]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pt-PT"/>
              <a:t>5. </a:t>
            </a:r>
            <a:r>
              <a:rPr lang="pt-PT" sz="2400"/>
              <a:t>Extract velocity from range using two-point finite difference method and compare it to range-doppler measurements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pt-PT"/>
              <a:t>6. FMCW Mode: Simultaneous range and velocity estimation by only processing the up and down chirp for a single target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90a3de980_3_0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Velocity Measurements in 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Velocity Measurements of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 single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target: captured data plot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3490a3de980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49" y="2252552"/>
            <a:ext cx="3985299" cy="2987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490a3de980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5599" y="1216425"/>
            <a:ext cx="6749372" cy="50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90a3de980_3_9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Velocity Measurements in 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Velocity Measurements of a single target: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velocity vs time spectrogram, velocity vs time plot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490a3de980_3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625" y="1887863"/>
            <a:ext cx="6004974" cy="4502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490a3de980_3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5800" y="1887863"/>
            <a:ext cx="6004976" cy="4502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90a3de980_3_61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Velocity Measurements in 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Velocity Measurements of a single target: velocity vs time spectrogram, velocity vs time plot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g3490a3de980_3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7625" y="1910169"/>
            <a:ext cx="5975250" cy="4479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490a3de980_3_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850" y="1910175"/>
            <a:ext cx="5975250" cy="447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90a3de980_3_38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Velocity Measurements in 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Velocity Measurements of multiple targets: captured data plot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g3490a3de980_3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75" y="2300325"/>
            <a:ext cx="3857875" cy="289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490a3de980_3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6274" y="1216425"/>
            <a:ext cx="6749372" cy="50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90a3de980_3_44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Velocity Measurements in 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Velocity Measurements of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multiple targets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: velocity vs time spectrogram, velocity vs time plot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490a3de980_3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00" y="1868586"/>
            <a:ext cx="6216724" cy="4660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490a3de980_3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3150" y="1868575"/>
            <a:ext cx="6056450" cy="454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90a3de980_3_50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Velocity Measurements in 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Velocity Measurements of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multiple targets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: velocity vs time spectrogram, velocity vs time plot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g3490a3de980_3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3150" y="1868575"/>
            <a:ext cx="6056450" cy="454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490a3de980_3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750" y="1868563"/>
            <a:ext cx="6056450" cy="454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166951fd9_0_38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Range Measurements in FMCW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1):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Range measurements of multiple targets: show captured data plot, captured sync plot (also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show zoom in)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g38166951fd9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75750"/>
            <a:ext cx="3509149" cy="17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8166951fd9_0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1549" y="1645500"/>
            <a:ext cx="8378049" cy="4201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166951fd9_0_44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Range Measurements in FMCW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1):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captured parsed up-chirp data overlayed over the sync plot (also show zoom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in)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g38166951fd9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00" y="2843688"/>
            <a:ext cx="4059200" cy="203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8166951fd9_0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8600" y="1952725"/>
            <a:ext cx="7612100" cy="3817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166951fd9_0_50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Range Measurements in FMCW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1):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range vs time plot (hint: take the two strongest scratterers for two targets, multiple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local maximas is used by </a:t>
            </a:r>
            <a:r>
              <a:rPr lang="pt-PT" sz="1000">
                <a:latin typeface="Courier New"/>
                <a:ea typeface="Courier New"/>
                <a:cs typeface="Courier New"/>
                <a:sym typeface="Courier New"/>
              </a:rPr>
              <a:t>   [pks, locs] = findpeaks(row, </a:t>
            </a:r>
            <a:r>
              <a:rPr lang="pt-PT" sz="10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'MinPeakDistance'</a:t>
            </a:r>
            <a:r>
              <a:rPr lang="pt-PT" sz="1000">
                <a:latin typeface="Courier New"/>
                <a:ea typeface="Courier New"/>
                <a:cs typeface="Courier New"/>
                <a:sym typeface="Courier New"/>
              </a:rPr>
              <a:t>, min_sep_bin);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g38166951fd9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" y="1645500"/>
            <a:ext cx="10089001" cy="506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166951fd9_0_55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Range Measurements in FMCW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1): Single target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range vs time spectrogram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g38166951fd9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400" y="1404200"/>
            <a:ext cx="10089001" cy="506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166951fd9_0_2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Range Measurements in FMCW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1): Two targets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Range measurements of multiple targets: show captured data plot, captured sync plot (also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show zoom in)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g38166951fd9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950" y="1602275"/>
            <a:ext cx="8188577" cy="410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8166951fd9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175" y="2775750"/>
            <a:ext cx="3509149" cy="17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Range Measurements in FMCW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1):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captured parsed up-chirp data overlayed over the sync plot (also show zoom in)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000" y="1948675"/>
            <a:ext cx="7628226" cy="382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375" y="2843688"/>
            <a:ext cx="4059200" cy="203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166951fd9_0_8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Range Measurements in FMCW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1):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range vs time plot (hint: take the two strongest scratterers for two targets, multiple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local maximas is used by </a:t>
            </a:r>
            <a:r>
              <a:rPr lang="pt-PT" sz="1000">
                <a:latin typeface="Courier New"/>
                <a:ea typeface="Courier New"/>
                <a:cs typeface="Courier New"/>
                <a:sym typeface="Courier New"/>
              </a:rPr>
              <a:t>   [pks, locs] = findpeaks(row, </a:t>
            </a:r>
            <a:r>
              <a:rPr lang="pt-PT" sz="1000">
                <a:solidFill>
                  <a:srgbClr val="A709F5"/>
                </a:solidFill>
                <a:latin typeface="Courier New"/>
                <a:ea typeface="Courier New"/>
                <a:cs typeface="Courier New"/>
                <a:sym typeface="Courier New"/>
              </a:rPr>
              <a:t>'MinPeakDistance'</a:t>
            </a:r>
            <a:r>
              <a:rPr lang="pt-PT" sz="1000">
                <a:latin typeface="Courier New"/>
                <a:ea typeface="Courier New"/>
                <a:cs typeface="Courier New"/>
                <a:sym typeface="Courier New"/>
              </a:rPr>
              <a:t>, min_sep_bin);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g38166951fd9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075" y="1493100"/>
            <a:ext cx="10089001" cy="506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166951fd9_0_13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Range Measurements in FMCW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1):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range vs time spectrogram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g38166951fd9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000" y="1493100"/>
            <a:ext cx="10089001" cy="506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166951fd9_0_18"/>
          <p:cNvSpPr txBox="1"/>
          <p:nvPr>
            <p:ph type="title"/>
          </p:nvPr>
        </p:nvSpPr>
        <p:spPr>
          <a:xfrm>
            <a:off x="13317" y="0"/>
            <a:ext cx="61632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One target</a:t>
            </a:r>
            <a:endParaRPr b="1" sz="1800">
              <a:solidFill>
                <a:schemeClr val="accent4"/>
              </a:solidFill>
            </a:endParaRPr>
          </a:p>
        </p:txBody>
      </p:sp>
      <p:pic>
        <p:nvPicPr>
          <p:cNvPr id="197" name="Google Shape;197;g38166951fd9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00" y="3867797"/>
            <a:ext cx="5962000" cy="2990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8166951fd9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3300" y="3867751"/>
            <a:ext cx="5962004" cy="299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8166951fd9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4651" y="1014975"/>
            <a:ext cx="5569898" cy="27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8166951fd9_0_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975" y="1139475"/>
            <a:ext cx="5569898" cy="27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8166951fd9_0_18"/>
          <p:cNvSpPr txBox="1"/>
          <p:nvPr>
            <p:ph type="title"/>
          </p:nvPr>
        </p:nvSpPr>
        <p:spPr>
          <a:xfrm>
            <a:off x="6234650" y="0"/>
            <a:ext cx="61632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Two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 targets</a:t>
            </a:r>
            <a:endParaRPr b="1"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90a3de980_3_74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. Range-Doppler Measurements in FMCW mode.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1 and 2 together):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Video of the range vs velocity spectrogram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3490a3de980_3_74" title="RangeDoppler1tg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45500"/>
            <a:ext cx="6081500" cy="456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490a3de980_3_74" title="RangeDoppler2tg.avi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4425" y="1645500"/>
            <a:ext cx="6081500" cy="456111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490a3de980_3_74"/>
          <p:cNvSpPr txBox="1"/>
          <p:nvPr/>
        </p:nvSpPr>
        <p:spPr>
          <a:xfrm>
            <a:off x="780850" y="1244350"/>
            <a:ext cx="48246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rgbClr val="FB0007"/>
                </a:solidFill>
              </a:rPr>
              <a:t>1 Target</a:t>
            </a:r>
            <a:endParaRPr sz="1200">
              <a:solidFill>
                <a:srgbClr val="FB0007"/>
              </a:solidFill>
            </a:endParaRPr>
          </a:p>
        </p:txBody>
      </p:sp>
      <p:sp>
        <p:nvSpPr>
          <p:cNvPr id="210" name="Google Shape;210;g3490a3de980_3_74"/>
          <p:cNvSpPr txBox="1"/>
          <p:nvPr/>
        </p:nvSpPr>
        <p:spPr>
          <a:xfrm>
            <a:off x="6672875" y="1244350"/>
            <a:ext cx="48246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rgbClr val="FB0007"/>
                </a:solidFill>
              </a:rPr>
              <a:t>2</a:t>
            </a:r>
            <a:r>
              <a:rPr b="1" lang="pt-PT" sz="1600">
                <a:solidFill>
                  <a:srgbClr val="FB0007"/>
                </a:solidFill>
              </a:rPr>
              <a:t> Target</a:t>
            </a:r>
            <a:endParaRPr sz="1200">
              <a:solidFill>
                <a:srgbClr val="FB0007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90a3de980_3_88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4. Real-time Measurements. (</a:t>
            </a:r>
            <a:r>
              <a:rPr b="1" lang="pt-PT" sz="18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Optional Tasks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CW Mode - Video 1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g3490a3de980_3_88" title="CW_real_time_video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8600" y="227775"/>
            <a:ext cx="3600425" cy="64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490a3de980_3_88" title="CW_Spectrogram_video3.avi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201" y="1408275"/>
            <a:ext cx="6131025" cy="459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90a3de980_3_68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. Real-time Measurements. (</a:t>
            </a:r>
            <a:r>
              <a:rPr b="1" lang="pt-PT" sz="18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Optional Tasks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CW Mode - Video 2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g3490a3de980_3_68" title="CW_real_time_video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3625" y="230612"/>
            <a:ext cx="3597250" cy="639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490a3de980_3_68" title="CW_Spectrogram_video1.avi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426" y="1822475"/>
            <a:ext cx="5919366" cy="443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490b27b977_2_1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4. Real-time Measurements. (</a:t>
            </a:r>
            <a:r>
              <a:rPr b="1" lang="pt-PT" sz="18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Optional Tasks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FMCW Mode - Video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g3490b27b977_2_1" title="FMCW_RealTime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000" y="1632850"/>
            <a:ext cx="6292150" cy="47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490b27b977_2_1" title="FMCW_real_time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02475" y="448100"/>
            <a:ext cx="3371926" cy="59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490a3de980_3_84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FMCW Radar Tasks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. (</a:t>
            </a:r>
            <a:r>
              <a:rPr b="1" lang="pt-PT" sz="18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Optional Tasks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Extract velocity from range using two-point finite difference method and compare it to range-doppler measurements.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g3490a3de980_3_84" title="MS_3MTI_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1313" y="1493100"/>
            <a:ext cx="6749372" cy="50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90a3de980_4_3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5. FMCW Radar Tasks. (</a:t>
            </a:r>
            <a:r>
              <a:rPr b="1" lang="pt-PT" sz="18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Optional Tasks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Extract velocity from range using two-point finite difference method and compare it to range-doppler measurements.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g3490a3de980_4_3" title="ran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99888"/>
            <a:ext cx="6149771" cy="461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490a3de980_4_3" title="veloci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2701" y="1172192"/>
            <a:ext cx="6249300" cy="46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490a3de980_4_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5. FMCW Radar Tasks. (</a:t>
            </a:r>
            <a:r>
              <a:rPr b="1" lang="pt-PT" sz="18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Optional Tasks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Comparison of two-point finite difference velocity estimate, with range doppler algorithm</a:t>
            </a:r>
            <a:endParaRPr/>
          </a:p>
        </p:txBody>
      </p:sp>
      <p:pic>
        <p:nvPicPr>
          <p:cNvPr id="252" name="Google Shape;252;g3490a3de980_4_12" title="veloc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987475"/>
            <a:ext cx="5559175" cy="416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490a3de980_4_12" title="RangeDoppler19_t1_2.avi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0225" y="1986675"/>
            <a:ext cx="5559174" cy="416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90a3de980_3_98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. FMCW Radar Tasks. (</a:t>
            </a:r>
            <a:r>
              <a:rPr b="1" lang="pt-PT" sz="18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Optional Tasks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FMCW Mode: Simultaneous range and velocity estimation by only processing the up and down chirp for a single target.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g3490a3de980_3_98" title="MS_3MTI_dow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6209" y="1459937"/>
            <a:ext cx="6000726" cy="449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490a3de980_3_98" title="MS_3MTI_u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840" y="1493112"/>
            <a:ext cx="5912224" cy="4432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90a3de980_4_21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6. FMCW Radar Tasks. (</a:t>
            </a:r>
            <a:r>
              <a:rPr b="1" lang="pt-PT" sz="18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Optional Tasks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FMCW Mode: Simultaneous range and velocity estimation by only processing the up and down chirp for a single target.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g3490a3de980_4_21" title="Range_and_bfreq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8038" y="1493100"/>
            <a:ext cx="7155929" cy="536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90a3de980_4_31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6. FMCW Radar Tasks. (</a:t>
            </a:r>
            <a:r>
              <a:rPr b="1" lang="pt-PT" sz="18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Optional Tasks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FMCW Mode: Simultaneous range and velocity estimation by only processing the up and down chirp for a single target.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g3490a3de980_4_31" title="fb_fdoppl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8051" y="1325750"/>
            <a:ext cx="7155903" cy="536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90a3de980_4_39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6. FMCW Radar Tasks. (</a:t>
            </a:r>
            <a:r>
              <a:rPr b="1" lang="pt-PT" sz="180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Optional Tasks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FMCW Mode: Simultaneous range and velocity estimation by only processing the up and down chirp for a single target.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g3490a3de980_4_39" title="ran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2422" y="1366250"/>
            <a:ext cx="6180322" cy="463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490a3de980_4_39" title="veloci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6850" y="1338213"/>
            <a:ext cx="6255126" cy="468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490a3de980_4_39" title="ran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9663"/>
            <a:ext cx="6011152" cy="450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7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pt-PT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Plan for Next Week (Sub-groups 1 and 2)</a:t>
            </a:r>
            <a:endParaRPr/>
          </a:p>
        </p:txBody>
      </p:sp>
      <p:sp>
        <p:nvSpPr>
          <p:cNvPr id="290" name="Google Shape;290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SAR image generation: Time Domain Correlation.</a:t>
            </a:r>
            <a:endParaRPr sz="2400"/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SAR image generation: Range Migration Algorithm (RMA).</a:t>
            </a:r>
            <a:endParaRPr sz="2400"/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SAR image generation using real targets: </a:t>
            </a:r>
            <a:r>
              <a:rPr lang="pt-PT" sz="2400"/>
              <a:t>Range Migration Algorithm (RMA).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sz="2400"/>
              <a:t>SAR image measurement: acquisition of the SAR image using the three available trihedral corner reflectors as targets.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2025-09-08T20:04:49Z</dcterms:created>
  <dc:creator>RAFAEL ANTÓNIO DA CRUZ RODRIGUES</dc:creator>
</cp:coreProperties>
</file>