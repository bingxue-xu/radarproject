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SJDRRuPSi6GsN5dqvQ+H2cBKr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P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ef796324c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7ef796324c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5813329f1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65813329f1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5813329f1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65813329f1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5813329f1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65813329f1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5813329f1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65813329f1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5813329f1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65813329f1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f7bfd526f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7f7bfd526f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t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T8F159ItaYPWq4isElJ0pS7ZjrNGXXoG/view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66577"/>
            <a:ext cx="9144000" cy="13294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b="1" lang="pt-PT"/>
              <a:t>Review Meeting 2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2626895"/>
            <a:ext cx="9144000" cy="1008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PT"/>
              <a:t>Build your own Radar System, Project Course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2968557" y="3766651"/>
            <a:ext cx="6254885" cy="1908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Bingxue Xu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Nikita Dubrovskyi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Rafael Rodrigues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Stefano Crescenza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968557" y="6117105"/>
            <a:ext cx="62548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chemeClr val="dk1"/>
                </a:solidFill>
              </a:rPr>
              <a:t>Tuesday</a:t>
            </a:r>
            <a:r>
              <a:rPr lang="pt-P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</a:t>
            </a:r>
            <a:r>
              <a:rPr lang="pt-PT" sz="2000">
                <a:solidFill>
                  <a:schemeClr val="dk1"/>
                </a:solidFill>
              </a:rPr>
              <a:t>6</a:t>
            </a:r>
            <a:r>
              <a:rPr lang="pt-P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/09/2025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pt-PT"/>
              <a:t>Week Achievements</a:t>
            </a:r>
            <a:endParaRPr b="1"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sz="2400"/>
              <a:t>Circuit Build &amp; Validation – complete baseband circuit and confirm signals.</a:t>
            </a:r>
            <a:endParaRPr sz="2400"/>
          </a:p>
          <a:p>
            <a:pPr indent="-266700" lvl="0" marL="2286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pt-PT" sz="2400"/>
              <a:t>Measurement &amp; Analysis – characterize signals and filters, verify performance.</a:t>
            </a:r>
            <a:endParaRPr sz="2400"/>
          </a:p>
          <a:p>
            <a:pPr indent="-266700" lvl="0" marL="2286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pt-PT" sz="2400"/>
              <a:t>System Demonstration – prepare first CW test video.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a. Show the image of the breadboard identifying the different circuit parts (modulator, video amplifier, filter, voltage regulator, etc) and the resistive trimmers.</a:t>
            </a:r>
            <a:endParaRPr b="1" sz="1800"/>
          </a:p>
        </p:txBody>
      </p:sp>
      <p:pic>
        <p:nvPicPr>
          <p:cNvPr id="103" name="Google Shape;103;p26" title="Screenshot 2025-09-14 at 18.36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3402" y="7574001"/>
            <a:ext cx="3093798" cy="2174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3426" y="1690701"/>
            <a:ext cx="6057201" cy="4542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05" name="Google Shape;105;p26"/>
          <p:cNvGrpSpPr/>
          <p:nvPr/>
        </p:nvGrpSpPr>
        <p:grpSpPr>
          <a:xfrm>
            <a:off x="3781750" y="2123426"/>
            <a:ext cx="4140576" cy="2581224"/>
            <a:chOff x="3781750" y="2123426"/>
            <a:chExt cx="4140576" cy="2581224"/>
          </a:xfrm>
        </p:grpSpPr>
        <p:sp>
          <p:nvSpPr>
            <p:cNvPr id="106" name="Google Shape;106;p26"/>
            <p:cNvSpPr/>
            <p:nvPr/>
          </p:nvSpPr>
          <p:spPr>
            <a:xfrm rot="10800000">
              <a:off x="6499426" y="2123426"/>
              <a:ext cx="260700" cy="143700"/>
            </a:xfrm>
            <a:prstGeom prst="trapezoid">
              <a:avLst>
                <a:gd fmla="val 58786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6"/>
            <p:cNvSpPr/>
            <p:nvPr/>
          </p:nvSpPr>
          <p:spPr>
            <a:xfrm>
              <a:off x="4860675" y="2818225"/>
              <a:ext cx="255300" cy="2751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6"/>
            <p:cNvSpPr/>
            <p:nvPr/>
          </p:nvSpPr>
          <p:spPr>
            <a:xfrm>
              <a:off x="4872900" y="2908729"/>
              <a:ext cx="242450" cy="122125"/>
            </a:xfrm>
            <a:custGeom>
              <a:rect b="b" l="l" r="r" t="t"/>
              <a:pathLst>
                <a:path extrusionOk="0" h="4885" w="9698">
                  <a:moveTo>
                    <a:pt x="0" y="2454"/>
                  </a:moveTo>
                  <a:cubicBezTo>
                    <a:pt x="245" y="2180"/>
                    <a:pt x="1068" y="1212"/>
                    <a:pt x="1472" y="808"/>
                  </a:cubicBezTo>
                  <a:cubicBezTo>
                    <a:pt x="1876" y="404"/>
                    <a:pt x="2093" y="87"/>
                    <a:pt x="2425" y="29"/>
                  </a:cubicBezTo>
                  <a:cubicBezTo>
                    <a:pt x="2757" y="-29"/>
                    <a:pt x="3060" y="145"/>
                    <a:pt x="3464" y="462"/>
                  </a:cubicBezTo>
                  <a:cubicBezTo>
                    <a:pt x="3868" y="780"/>
                    <a:pt x="4532" y="1530"/>
                    <a:pt x="4849" y="1934"/>
                  </a:cubicBezTo>
                  <a:cubicBezTo>
                    <a:pt x="5167" y="2338"/>
                    <a:pt x="5138" y="2555"/>
                    <a:pt x="5369" y="2887"/>
                  </a:cubicBezTo>
                  <a:cubicBezTo>
                    <a:pt x="5600" y="3219"/>
                    <a:pt x="5874" y="3594"/>
                    <a:pt x="6235" y="3926"/>
                  </a:cubicBezTo>
                  <a:cubicBezTo>
                    <a:pt x="6596" y="4258"/>
                    <a:pt x="7101" y="4907"/>
                    <a:pt x="7534" y="4878"/>
                  </a:cubicBezTo>
                  <a:cubicBezTo>
                    <a:pt x="7967" y="4849"/>
                    <a:pt x="8471" y="4229"/>
                    <a:pt x="8832" y="3753"/>
                  </a:cubicBezTo>
                  <a:cubicBezTo>
                    <a:pt x="9193" y="3277"/>
                    <a:pt x="9554" y="2310"/>
                    <a:pt x="9698" y="202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9" name="Google Shape;109;p26"/>
            <p:cNvSpPr/>
            <p:nvPr/>
          </p:nvSpPr>
          <p:spPr>
            <a:xfrm>
              <a:off x="5106100" y="2934125"/>
              <a:ext cx="1623900" cy="64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6"/>
            <p:cNvSpPr/>
            <p:nvPr/>
          </p:nvSpPr>
          <p:spPr>
            <a:xfrm>
              <a:off x="5260125" y="2875900"/>
              <a:ext cx="402600" cy="18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6"/>
            <p:cNvSpPr/>
            <p:nvPr/>
          </p:nvSpPr>
          <p:spPr>
            <a:xfrm rot="5525606">
              <a:off x="5923535" y="2825491"/>
              <a:ext cx="344930" cy="260577"/>
            </a:xfrm>
            <a:prstGeom prst="triangle">
              <a:avLst>
                <a:gd fmla="val 50000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6"/>
            <p:cNvSpPr/>
            <p:nvPr/>
          </p:nvSpPr>
          <p:spPr>
            <a:xfrm rot="5400000">
              <a:off x="5766675" y="3092875"/>
              <a:ext cx="1726200" cy="74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6"/>
            <p:cNvSpPr/>
            <p:nvPr/>
          </p:nvSpPr>
          <p:spPr>
            <a:xfrm>
              <a:off x="5354400" y="2893763"/>
              <a:ext cx="125200" cy="152050"/>
            </a:xfrm>
            <a:custGeom>
              <a:rect b="b" l="l" r="r" t="t"/>
              <a:pathLst>
                <a:path extrusionOk="0" h="6082" w="5008">
                  <a:moveTo>
                    <a:pt x="3935" y="0"/>
                  </a:moveTo>
                  <a:lnTo>
                    <a:pt x="0" y="894"/>
                  </a:lnTo>
                  <a:lnTo>
                    <a:pt x="4829" y="2325"/>
                  </a:lnTo>
                  <a:lnTo>
                    <a:pt x="1252" y="3399"/>
                  </a:lnTo>
                  <a:lnTo>
                    <a:pt x="5008" y="5009"/>
                  </a:lnTo>
                  <a:lnTo>
                    <a:pt x="1073" y="6082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4" name="Google Shape;114;p26"/>
            <p:cNvSpPr/>
            <p:nvPr/>
          </p:nvSpPr>
          <p:spPr>
            <a:xfrm>
              <a:off x="6667125" y="3484175"/>
              <a:ext cx="1111500" cy="74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6"/>
            <p:cNvSpPr/>
            <p:nvPr/>
          </p:nvSpPr>
          <p:spPr>
            <a:xfrm rot="-5400000">
              <a:off x="6938641" y="3391170"/>
              <a:ext cx="345000" cy="260700"/>
            </a:xfrm>
            <a:prstGeom prst="triangle">
              <a:avLst>
                <a:gd fmla="val 50000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6"/>
            <p:cNvSpPr/>
            <p:nvPr/>
          </p:nvSpPr>
          <p:spPr>
            <a:xfrm>
              <a:off x="6502125" y="3383975"/>
              <a:ext cx="255300" cy="2751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6"/>
            <p:cNvSpPr/>
            <p:nvPr/>
          </p:nvSpPr>
          <p:spPr>
            <a:xfrm>
              <a:off x="6529275" y="2851750"/>
              <a:ext cx="201000" cy="2361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8" name="Google Shape;118;p26"/>
            <p:cNvCxnSpPr/>
            <p:nvPr/>
          </p:nvCxnSpPr>
          <p:spPr>
            <a:xfrm>
              <a:off x="6529275" y="2862275"/>
              <a:ext cx="201000" cy="21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9" name="Google Shape;119;p26"/>
            <p:cNvSpPr/>
            <p:nvPr/>
          </p:nvSpPr>
          <p:spPr>
            <a:xfrm>
              <a:off x="6124525" y="3918625"/>
              <a:ext cx="542700" cy="74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6"/>
            <p:cNvSpPr/>
            <p:nvPr/>
          </p:nvSpPr>
          <p:spPr>
            <a:xfrm rot="5400000">
              <a:off x="5836200" y="3564675"/>
              <a:ext cx="650400" cy="7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6"/>
            <p:cNvSpPr/>
            <p:nvPr/>
          </p:nvSpPr>
          <p:spPr>
            <a:xfrm rot="-4873">
              <a:off x="4034649" y="3277515"/>
              <a:ext cx="2116502" cy="71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6"/>
            <p:cNvSpPr/>
            <p:nvPr/>
          </p:nvSpPr>
          <p:spPr>
            <a:xfrm rot="5400000">
              <a:off x="3738375" y="3527075"/>
              <a:ext cx="564300" cy="64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6"/>
            <p:cNvSpPr/>
            <p:nvPr/>
          </p:nvSpPr>
          <p:spPr>
            <a:xfrm>
              <a:off x="3988425" y="3833825"/>
              <a:ext cx="1623900" cy="64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6"/>
            <p:cNvSpPr/>
            <p:nvPr/>
          </p:nvSpPr>
          <p:spPr>
            <a:xfrm>
              <a:off x="4951800" y="3777275"/>
              <a:ext cx="402600" cy="18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6"/>
            <p:cNvSpPr/>
            <p:nvPr/>
          </p:nvSpPr>
          <p:spPr>
            <a:xfrm>
              <a:off x="4975638" y="3795500"/>
              <a:ext cx="354925" cy="90875"/>
            </a:xfrm>
            <a:custGeom>
              <a:rect b="b" l="l" r="r" t="t"/>
              <a:pathLst>
                <a:path extrusionOk="0" h="3635" w="14197">
                  <a:moveTo>
                    <a:pt x="0" y="1119"/>
                  </a:moveTo>
                  <a:cubicBezTo>
                    <a:pt x="270" y="954"/>
                    <a:pt x="898" y="296"/>
                    <a:pt x="1617" y="131"/>
                  </a:cubicBezTo>
                  <a:cubicBezTo>
                    <a:pt x="2336" y="-34"/>
                    <a:pt x="3355" y="-49"/>
                    <a:pt x="4313" y="131"/>
                  </a:cubicBezTo>
                  <a:cubicBezTo>
                    <a:pt x="5272" y="311"/>
                    <a:pt x="6305" y="760"/>
                    <a:pt x="7368" y="1209"/>
                  </a:cubicBezTo>
                  <a:cubicBezTo>
                    <a:pt x="8431" y="1658"/>
                    <a:pt x="9824" y="2452"/>
                    <a:pt x="10693" y="2826"/>
                  </a:cubicBezTo>
                  <a:cubicBezTo>
                    <a:pt x="11562" y="3200"/>
                    <a:pt x="11996" y="3320"/>
                    <a:pt x="12580" y="3455"/>
                  </a:cubicBezTo>
                  <a:cubicBezTo>
                    <a:pt x="13164" y="3590"/>
                    <a:pt x="13928" y="3605"/>
                    <a:pt x="14197" y="36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6" name="Google Shape;126;p26"/>
            <p:cNvSpPr/>
            <p:nvPr/>
          </p:nvSpPr>
          <p:spPr>
            <a:xfrm>
              <a:off x="4975650" y="3825738"/>
              <a:ext cx="354925" cy="90875"/>
            </a:xfrm>
            <a:custGeom>
              <a:rect b="b" l="l" r="r" t="t"/>
              <a:pathLst>
                <a:path extrusionOk="0" h="3635" w="14197">
                  <a:moveTo>
                    <a:pt x="0" y="1119"/>
                  </a:moveTo>
                  <a:cubicBezTo>
                    <a:pt x="270" y="954"/>
                    <a:pt x="898" y="296"/>
                    <a:pt x="1617" y="131"/>
                  </a:cubicBezTo>
                  <a:cubicBezTo>
                    <a:pt x="2336" y="-34"/>
                    <a:pt x="3355" y="-49"/>
                    <a:pt x="4313" y="131"/>
                  </a:cubicBezTo>
                  <a:cubicBezTo>
                    <a:pt x="5272" y="311"/>
                    <a:pt x="6305" y="760"/>
                    <a:pt x="7368" y="1209"/>
                  </a:cubicBezTo>
                  <a:cubicBezTo>
                    <a:pt x="8431" y="1658"/>
                    <a:pt x="9824" y="2452"/>
                    <a:pt x="10693" y="2826"/>
                  </a:cubicBezTo>
                  <a:cubicBezTo>
                    <a:pt x="11562" y="3200"/>
                    <a:pt x="11996" y="3320"/>
                    <a:pt x="12580" y="3455"/>
                  </a:cubicBezTo>
                  <a:cubicBezTo>
                    <a:pt x="13164" y="3590"/>
                    <a:pt x="13928" y="3605"/>
                    <a:pt x="14197" y="36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7" name="Google Shape;127;p26"/>
            <p:cNvSpPr/>
            <p:nvPr/>
          </p:nvSpPr>
          <p:spPr>
            <a:xfrm>
              <a:off x="4975638" y="3858475"/>
              <a:ext cx="354925" cy="90875"/>
            </a:xfrm>
            <a:custGeom>
              <a:rect b="b" l="l" r="r" t="t"/>
              <a:pathLst>
                <a:path extrusionOk="0" h="3635" w="14197">
                  <a:moveTo>
                    <a:pt x="0" y="1119"/>
                  </a:moveTo>
                  <a:cubicBezTo>
                    <a:pt x="270" y="954"/>
                    <a:pt x="898" y="296"/>
                    <a:pt x="1617" y="131"/>
                  </a:cubicBezTo>
                  <a:cubicBezTo>
                    <a:pt x="2336" y="-34"/>
                    <a:pt x="3355" y="-49"/>
                    <a:pt x="4313" y="131"/>
                  </a:cubicBezTo>
                  <a:cubicBezTo>
                    <a:pt x="5272" y="311"/>
                    <a:pt x="6305" y="760"/>
                    <a:pt x="7368" y="1209"/>
                  </a:cubicBezTo>
                  <a:cubicBezTo>
                    <a:pt x="8431" y="1658"/>
                    <a:pt x="9824" y="2452"/>
                    <a:pt x="10693" y="2826"/>
                  </a:cubicBezTo>
                  <a:cubicBezTo>
                    <a:pt x="11562" y="3200"/>
                    <a:pt x="11996" y="3320"/>
                    <a:pt x="12580" y="3455"/>
                  </a:cubicBezTo>
                  <a:cubicBezTo>
                    <a:pt x="13164" y="3590"/>
                    <a:pt x="13928" y="3605"/>
                    <a:pt x="14197" y="36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128" name="Google Shape;128;p26"/>
            <p:cNvCxnSpPr/>
            <p:nvPr/>
          </p:nvCxnSpPr>
          <p:spPr>
            <a:xfrm flipH="1">
              <a:off x="5144700" y="3802875"/>
              <a:ext cx="50100" cy="6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9" name="Google Shape;129;p26"/>
            <p:cNvSpPr/>
            <p:nvPr/>
          </p:nvSpPr>
          <p:spPr>
            <a:xfrm rot="5400000">
              <a:off x="4429510" y="3740865"/>
              <a:ext cx="345000" cy="260700"/>
            </a:xfrm>
            <a:prstGeom prst="triangle">
              <a:avLst>
                <a:gd fmla="val 50000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6"/>
            <p:cNvSpPr/>
            <p:nvPr/>
          </p:nvSpPr>
          <p:spPr>
            <a:xfrm rot="5400000">
              <a:off x="5593963" y="3818524"/>
              <a:ext cx="131400" cy="94800"/>
            </a:xfrm>
            <a:prstGeom prst="triangle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1" name="Google Shape;131;p26"/>
            <p:cNvCxnSpPr>
              <a:endCxn id="116" idx="5"/>
            </p:cNvCxnSpPr>
            <p:nvPr/>
          </p:nvCxnSpPr>
          <p:spPr>
            <a:xfrm>
              <a:off x="6529237" y="3412388"/>
              <a:ext cx="190800" cy="206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26"/>
            <p:cNvCxnSpPr/>
            <p:nvPr/>
          </p:nvCxnSpPr>
          <p:spPr>
            <a:xfrm flipH="1">
              <a:off x="6553275" y="3429725"/>
              <a:ext cx="153000" cy="18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" name="Google Shape;133;p26"/>
            <p:cNvSpPr/>
            <p:nvPr/>
          </p:nvSpPr>
          <p:spPr>
            <a:xfrm rot="-5400000">
              <a:off x="7720126" y="3443751"/>
              <a:ext cx="260700" cy="143700"/>
            </a:xfrm>
            <a:prstGeom prst="trapezoid">
              <a:avLst>
                <a:gd fmla="val 58786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6"/>
            <p:cNvSpPr/>
            <p:nvPr/>
          </p:nvSpPr>
          <p:spPr>
            <a:xfrm>
              <a:off x="4474350" y="4297000"/>
              <a:ext cx="255300" cy="2751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6"/>
            <p:cNvSpPr/>
            <p:nvPr/>
          </p:nvSpPr>
          <p:spPr>
            <a:xfrm>
              <a:off x="4506250" y="4375700"/>
              <a:ext cx="201005" cy="74701"/>
            </a:xfrm>
            <a:custGeom>
              <a:rect b="b" l="l" r="r" t="t"/>
              <a:pathLst>
                <a:path extrusionOk="0" h="2901" w="9767">
                  <a:moveTo>
                    <a:pt x="0" y="2901"/>
                  </a:moveTo>
                  <a:lnTo>
                    <a:pt x="3191" y="2901"/>
                  </a:lnTo>
                  <a:lnTo>
                    <a:pt x="4932" y="0"/>
                  </a:lnTo>
                  <a:lnTo>
                    <a:pt x="7059" y="2804"/>
                  </a:lnTo>
                  <a:lnTo>
                    <a:pt x="9767" y="2708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6" name="Google Shape;136;p26"/>
            <p:cNvSpPr/>
            <p:nvPr/>
          </p:nvSpPr>
          <p:spPr>
            <a:xfrm>
              <a:off x="5686425" y="4429550"/>
              <a:ext cx="255300" cy="2751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6"/>
            <p:cNvSpPr/>
            <p:nvPr/>
          </p:nvSpPr>
          <p:spPr>
            <a:xfrm>
              <a:off x="3781750" y="4402750"/>
              <a:ext cx="724500" cy="63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6"/>
            <p:cNvSpPr/>
            <p:nvPr/>
          </p:nvSpPr>
          <p:spPr>
            <a:xfrm rot="5400000">
              <a:off x="3076600" y="3689175"/>
              <a:ext cx="1468500" cy="58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6"/>
            <p:cNvSpPr/>
            <p:nvPr/>
          </p:nvSpPr>
          <p:spPr>
            <a:xfrm rot="-3824">
              <a:off x="3781750" y="2920729"/>
              <a:ext cx="1078801" cy="62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6"/>
            <p:cNvSpPr/>
            <p:nvPr/>
          </p:nvSpPr>
          <p:spPr>
            <a:xfrm>
              <a:off x="5756800" y="4500788"/>
              <a:ext cx="114550" cy="132625"/>
            </a:xfrm>
            <a:custGeom>
              <a:rect b="b" l="l" r="r" t="t"/>
              <a:pathLst>
                <a:path extrusionOk="0" h="5305" w="4582">
                  <a:moveTo>
                    <a:pt x="0" y="482"/>
                  </a:moveTo>
                  <a:lnTo>
                    <a:pt x="2171" y="5305"/>
                  </a:lnTo>
                  <a:lnTo>
                    <a:pt x="4582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1" name="Google Shape;141;p26"/>
            <p:cNvSpPr/>
            <p:nvPr/>
          </p:nvSpPr>
          <p:spPr>
            <a:xfrm rot="-4780">
              <a:off x="4732350" y="4391689"/>
              <a:ext cx="1078801" cy="73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ef796324c_0_60"/>
          <p:cNvSpPr txBox="1"/>
          <p:nvPr>
            <p:ph type="title"/>
          </p:nvPr>
        </p:nvSpPr>
        <p:spPr>
          <a:xfrm>
            <a:off x="0" y="0"/>
            <a:ext cx="121920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a. Show the image of the breadboard identifying the different circuit parts (modulator, video amplifier, filter, voltage regulator, etc) and the resistive trimmers.</a:t>
            </a:r>
            <a:endParaRPr b="1" sz="1800"/>
          </a:p>
        </p:txBody>
      </p:sp>
      <p:pic>
        <p:nvPicPr>
          <p:cNvPr id="147" name="Google Shape;147;g37ef796324c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8850" y="1690825"/>
            <a:ext cx="6478950" cy="486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7ef796324c_0_60"/>
          <p:cNvSpPr/>
          <p:nvPr/>
        </p:nvSpPr>
        <p:spPr>
          <a:xfrm>
            <a:off x="7954000" y="4267700"/>
            <a:ext cx="1521600" cy="1509300"/>
          </a:xfrm>
          <a:prstGeom prst="rect">
            <a:avLst/>
          </a:prstGeom>
          <a:noFill/>
          <a:ln cap="flat" cmpd="sng" w="38100">
            <a:solidFill>
              <a:srgbClr val="99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7ef796324c_0_60"/>
          <p:cNvSpPr txBox="1"/>
          <p:nvPr/>
        </p:nvSpPr>
        <p:spPr>
          <a:xfrm>
            <a:off x="9587800" y="4806800"/>
            <a:ext cx="241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600">
                <a:solidFill>
                  <a:srgbClr val="9900FF"/>
                </a:solidFill>
              </a:rPr>
              <a:t>Voltage Regulator</a:t>
            </a:r>
            <a:endParaRPr b="1" sz="1600">
              <a:solidFill>
                <a:srgbClr val="9900FF"/>
              </a:solidFill>
            </a:endParaRPr>
          </a:p>
        </p:txBody>
      </p:sp>
      <p:sp>
        <p:nvSpPr>
          <p:cNvPr id="150" name="Google Shape;150;g37ef796324c_0_60"/>
          <p:cNvSpPr/>
          <p:nvPr/>
        </p:nvSpPr>
        <p:spPr>
          <a:xfrm>
            <a:off x="3244950" y="3801600"/>
            <a:ext cx="4127700" cy="2136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7ef796324c_0_60"/>
          <p:cNvSpPr txBox="1"/>
          <p:nvPr/>
        </p:nvSpPr>
        <p:spPr>
          <a:xfrm>
            <a:off x="1493350" y="4806800"/>
            <a:ext cx="161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600">
                <a:solidFill>
                  <a:schemeClr val="accent4"/>
                </a:solidFill>
              </a:rPr>
              <a:t>FM Modulator</a:t>
            </a:r>
            <a:endParaRPr b="1" sz="1600">
              <a:solidFill>
                <a:schemeClr val="accent4"/>
              </a:solidFill>
            </a:endParaRPr>
          </a:p>
        </p:txBody>
      </p:sp>
      <p:sp>
        <p:nvSpPr>
          <p:cNvPr id="152" name="Google Shape;152;g37ef796324c_0_60"/>
          <p:cNvSpPr/>
          <p:nvPr/>
        </p:nvSpPr>
        <p:spPr>
          <a:xfrm>
            <a:off x="3244950" y="1690825"/>
            <a:ext cx="6144000" cy="19584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7ef796324c_0_60"/>
          <p:cNvSpPr txBox="1"/>
          <p:nvPr/>
        </p:nvSpPr>
        <p:spPr>
          <a:xfrm>
            <a:off x="1385350" y="2100300"/>
            <a:ext cx="172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600">
                <a:solidFill>
                  <a:schemeClr val="accent6"/>
                </a:solidFill>
              </a:rPr>
              <a:t>Video Amplifier</a:t>
            </a:r>
            <a:endParaRPr b="1" sz="1600">
              <a:solidFill>
                <a:schemeClr val="accent6"/>
              </a:solidFill>
            </a:endParaRPr>
          </a:p>
        </p:txBody>
      </p:sp>
      <p:sp>
        <p:nvSpPr>
          <p:cNvPr id="154" name="Google Shape;154;g37ef796324c_0_60"/>
          <p:cNvSpPr/>
          <p:nvPr/>
        </p:nvSpPr>
        <p:spPr>
          <a:xfrm>
            <a:off x="3958450" y="2572975"/>
            <a:ext cx="692700" cy="680400"/>
          </a:xfrm>
          <a:prstGeom prst="ellipse">
            <a:avLst/>
          </a:prstGeom>
          <a:noFill/>
          <a:ln cap="flat" cmpd="sng" w="38100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7ef796324c_0_60"/>
          <p:cNvSpPr txBox="1"/>
          <p:nvPr/>
        </p:nvSpPr>
        <p:spPr>
          <a:xfrm>
            <a:off x="1253350" y="2940875"/>
            <a:ext cx="1723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600">
                <a:solidFill>
                  <a:srgbClr val="FF00FF"/>
                </a:solidFill>
              </a:rPr>
              <a:t>Gain </a:t>
            </a:r>
            <a:r>
              <a:rPr b="1" lang="pt-PT" sz="1600">
                <a:solidFill>
                  <a:srgbClr val="FF00FF"/>
                </a:solidFill>
              </a:rPr>
              <a:t>Resistive Trimmer</a:t>
            </a:r>
            <a:endParaRPr b="1" sz="1600">
              <a:solidFill>
                <a:srgbClr val="FF00FF"/>
              </a:solidFill>
            </a:endParaRPr>
          </a:p>
        </p:txBody>
      </p:sp>
      <p:cxnSp>
        <p:nvCxnSpPr>
          <p:cNvPr id="156" name="Google Shape;156;g37ef796324c_0_60"/>
          <p:cNvCxnSpPr>
            <a:stCxn id="155" idx="3"/>
            <a:endCxn id="154" idx="2"/>
          </p:cNvCxnSpPr>
          <p:nvPr/>
        </p:nvCxnSpPr>
        <p:spPr>
          <a:xfrm flipH="1" rot="10800000">
            <a:off x="2976850" y="2913125"/>
            <a:ext cx="981600" cy="366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g37ef796324c_0_60"/>
          <p:cNvSpPr txBox="1"/>
          <p:nvPr/>
        </p:nvSpPr>
        <p:spPr>
          <a:xfrm>
            <a:off x="940225" y="3946800"/>
            <a:ext cx="1723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600">
                <a:solidFill>
                  <a:srgbClr val="FF00FF"/>
                </a:solidFill>
              </a:rPr>
              <a:t>Pin2, set DC Offset</a:t>
            </a:r>
            <a:endParaRPr b="1" sz="1600">
              <a:solidFill>
                <a:srgbClr val="FF00FF"/>
              </a:solidFill>
            </a:endParaRPr>
          </a:p>
        </p:txBody>
      </p:sp>
      <p:sp>
        <p:nvSpPr>
          <p:cNvPr id="158" name="Google Shape;158;g37ef796324c_0_60"/>
          <p:cNvSpPr/>
          <p:nvPr/>
        </p:nvSpPr>
        <p:spPr>
          <a:xfrm>
            <a:off x="4197425" y="3945150"/>
            <a:ext cx="692700" cy="680400"/>
          </a:xfrm>
          <a:prstGeom prst="ellipse">
            <a:avLst/>
          </a:prstGeom>
          <a:noFill/>
          <a:ln cap="flat" cmpd="sng" w="38100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9" name="Google Shape;159;g37ef796324c_0_60"/>
          <p:cNvCxnSpPr>
            <a:stCxn id="157" idx="3"/>
            <a:endCxn id="158" idx="2"/>
          </p:cNvCxnSpPr>
          <p:nvPr/>
        </p:nvCxnSpPr>
        <p:spPr>
          <a:xfrm>
            <a:off x="2663725" y="4285350"/>
            <a:ext cx="15336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g37ef796324c_0_60"/>
          <p:cNvSpPr/>
          <p:nvPr/>
        </p:nvSpPr>
        <p:spPr>
          <a:xfrm>
            <a:off x="3867400" y="4682150"/>
            <a:ext cx="692700" cy="680400"/>
          </a:xfrm>
          <a:prstGeom prst="ellipse">
            <a:avLst/>
          </a:prstGeom>
          <a:noFill/>
          <a:ln cap="flat" cmpd="sng" w="38100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7ef796324c_0_60"/>
          <p:cNvSpPr txBox="1"/>
          <p:nvPr/>
        </p:nvSpPr>
        <p:spPr>
          <a:xfrm>
            <a:off x="705100" y="5291275"/>
            <a:ext cx="195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600">
                <a:solidFill>
                  <a:srgbClr val="FF00FF"/>
                </a:solidFill>
              </a:rPr>
              <a:t>Pin3, set Ramp Magnitude</a:t>
            </a:r>
            <a:endParaRPr b="1" sz="1600">
              <a:solidFill>
                <a:srgbClr val="FF00FF"/>
              </a:solidFill>
            </a:endParaRPr>
          </a:p>
        </p:txBody>
      </p:sp>
      <p:cxnSp>
        <p:nvCxnSpPr>
          <p:cNvPr id="162" name="Google Shape;162;g37ef796324c_0_60"/>
          <p:cNvCxnSpPr>
            <a:stCxn id="161" idx="3"/>
            <a:endCxn id="160" idx="3"/>
          </p:cNvCxnSpPr>
          <p:nvPr/>
        </p:nvCxnSpPr>
        <p:spPr>
          <a:xfrm flipH="1" rot="10800000">
            <a:off x="2663800" y="5262925"/>
            <a:ext cx="1305000" cy="366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g37ef796324c_0_60"/>
          <p:cNvSpPr/>
          <p:nvPr/>
        </p:nvSpPr>
        <p:spPr>
          <a:xfrm>
            <a:off x="10060900" y="1419900"/>
            <a:ext cx="692700" cy="680400"/>
          </a:xfrm>
          <a:prstGeom prst="ellipse">
            <a:avLst/>
          </a:prstGeom>
          <a:noFill/>
          <a:ln cap="flat" cmpd="sng" w="38100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7ef796324c_0_60"/>
          <p:cNvSpPr txBox="1"/>
          <p:nvPr/>
        </p:nvSpPr>
        <p:spPr>
          <a:xfrm>
            <a:off x="10753600" y="1421550"/>
            <a:ext cx="1776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600">
                <a:solidFill>
                  <a:srgbClr val="FF00FF"/>
                </a:solidFill>
              </a:rPr>
              <a:t>Resistive Trimmer</a:t>
            </a:r>
            <a:endParaRPr b="1" sz="1600">
              <a:solidFill>
                <a:srgbClr val="FF00FF"/>
              </a:solidFill>
            </a:endParaRPr>
          </a:p>
        </p:txBody>
      </p:sp>
      <p:sp>
        <p:nvSpPr>
          <p:cNvPr id="165" name="Google Shape;165;g37ef796324c_0_60"/>
          <p:cNvSpPr/>
          <p:nvPr/>
        </p:nvSpPr>
        <p:spPr>
          <a:xfrm>
            <a:off x="6118975" y="4742550"/>
            <a:ext cx="692700" cy="680400"/>
          </a:xfrm>
          <a:prstGeom prst="ellipse">
            <a:avLst/>
          </a:prstGeom>
          <a:noFill/>
          <a:ln cap="flat" cmpd="sng" w="38100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" name="Google Shape;166;g37ef796324c_0_60"/>
          <p:cNvCxnSpPr>
            <a:endCxn id="165" idx="5"/>
          </p:cNvCxnSpPr>
          <p:nvPr/>
        </p:nvCxnSpPr>
        <p:spPr>
          <a:xfrm rot="10800000">
            <a:off x="6710231" y="5323308"/>
            <a:ext cx="3170100" cy="434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" name="Google Shape;167;g37ef796324c_0_60"/>
          <p:cNvSpPr txBox="1"/>
          <p:nvPr/>
        </p:nvSpPr>
        <p:spPr>
          <a:xfrm>
            <a:off x="9941800" y="5486325"/>
            <a:ext cx="195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600">
                <a:solidFill>
                  <a:srgbClr val="FF00FF"/>
                </a:solidFill>
              </a:rPr>
              <a:t>Pin7, set Chirp Rate</a:t>
            </a:r>
            <a:endParaRPr b="1" sz="16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"/>
          <p:cNvSpPr txBox="1"/>
          <p:nvPr>
            <p:ph type="title"/>
          </p:nvPr>
        </p:nvSpPr>
        <p:spPr>
          <a:xfrm>
            <a:off x="838200" y="755839"/>
            <a:ext cx="10515600" cy="10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pt-PT"/>
              <a:t>Vtune triangle signal</a:t>
            </a:r>
            <a:endParaRPr b="1"/>
          </a:p>
        </p:txBody>
      </p:sp>
      <p:pic>
        <p:nvPicPr>
          <p:cNvPr id="173" name="Google Shape;173;p3" title="WhatsApp Image 2025-09-13 at 19.28.1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750" y="2045850"/>
            <a:ext cx="5688576" cy="426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" title="WhatsApp Image 2025-09-13 at 19.36.48.jpeg"/>
          <p:cNvPicPr preferRelativeResize="0"/>
          <p:nvPr/>
        </p:nvPicPr>
        <p:blipFill rotWithShape="1">
          <a:blip r:embed="rId4">
            <a:alphaModFix/>
          </a:blip>
          <a:srcRect b="8622" l="15571" r="2211" t="8390"/>
          <a:stretch/>
        </p:blipFill>
        <p:spPr>
          <a:xfrm rot="221928">
            <a:off x="6317465" y="2353101"/>
            <a:ext cx="5336737" cy="404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"/>
          <p:cNvSpPr txBox="1"/>
          <p:nvPr/>
        </p:nvSpPr>
        <p:spPr>
          <a:xfrm>
            <a:off x="0" y="0"/>
            <a:ext cx="12192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176" name="Google Shape;176;p3"/>
          <p:cNvSpPr txBox="1"/>
          <p:nvPr>
            <p:ph type="title"/>
          </p:nvPr>
        </p:nvSpPr>
        <p:spPr>
          <a:xfrm>
            <a:off x="0" y="53225"/>
            <a:ext cx="12192000" cy="10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b. Show the adjusted Vtune triangle signal (i.e., Vpp = 2.2 to 3.4 V and up+down chirp period = 10 ms and the square sync signal.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5813329f1_0_3"/>
          <p:cNvSpPr txBox="1"/>
          <p:nvPr>
            <p:ph type="title"/>
          </p:nvPr>
        </p:nvSpPr>
        <p:spPr>
          <a:xfrm>
            <a:off x="838200" y="3252775"/>
            <a:ext cx="3876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pt-PT"/>
              <a:t>Sync</a:t>
            </a:r>
            <a:r>
              <a:rPr b="1" lang="pt-PT"/>
              <a:t> signal</a:t>
            </a:r>
            <a:endParaRPr b="1"/>
          </a:p>
        </p:txBody>
      </p:sp>
      <p:pic>
        <p:nvPicPr>
          <p:cNvPr id="182" name="Google Shape;182;g365813329f1_0_3" title="WhatsApp Image 2025-09-13 at 19.39.31.jpeg"/>
          <p:cNvPicPr preferRelativeResize="0"/>
          <p:nvPr/>
        </p:nvPicPr>
        <p:blipFill rotWithShape="1">
          <a:blip r:embed="rId3">
            <a:alphaModFix/>
          </a:blip>
          <a:srcRect b="14646" l="11615" r="14118" t="10356"/>
          <a:stretch/>
        </p:blipFill>
        <p:spPr>
          <a:xfrm>
            <a:off x="5024288" y="1718100"/>
            <a:ext cx="6329524" cy="479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65813329f1_0_3"/>
          <p:cNvSpPr txBox="1"/>
          <p:nvPr>
            <p:ph type="title"/>
          </p:nvPr>
        </p:nvSpPr>
        <p:spPr>
          <a:xfrm>
            <a:off x="0" y="0"/>
            <a:ext cx="12192000" cy="15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b. Show the adjusted Vtune triangle signal (i.e., Vpp = 2.2 to 3.4 V and up+down chirp period = 10 ms and the square sync signal.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5813329f1_0_10"/>
          <p:cNvSpPr txBox="1"/>
          <p:nvPr>
            <p:ph type="title"/>
          </p:nvPr>
        </p:nvSpPr>
        <p:spPr>
          <a:xfrm>
            <a:off x="838200" y="68103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pt-PT"/>
              <a:t>3 dB roll off of the active filter using a multimeter</a:t>
            </a:r>
            <a:endParaRPr b="1"/>
          </a:p>
        </p:txBody>
      </p:sp>
      <p:pic>
        <p:nvPicPr>
          <p:cNvPr id="189" name="Google Shape;189;g365813329f1_0_10" title="WhatsApp Image 2025-09-15 at 14.20.1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7600" y="2185213"/>
            <a:ext cx="6061948" cy="454646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65813329f1_0_10"/>
          <p:cNvSpPr txBox="1"/>
          <p:nvPr>
            <p:ph type="title"/>
          </p:nvPr>
        </p:nvSpPr>
        <p:spPr>
          <a:xfrm>
            <a:off x="4099725" y="1711825"/>
            <a:ext cx="26841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PT" sz="2000"/>
              <a:t>After 47 kΩ resistor</a:t>
            </a:r>
            <a:endParaRPr sz="2000"/>
          </a:p>
        </p:txBody>
      </p:sp>
      <p:sp>
        <p:nvSpPr>
          <p:cNvPr id="191" name="Google Shape;191;g365813329f1_0_10"/>
          <p:cNvSpPr txBox="1"/>
          <p:nvPr/>
        </p:nvSpPr>
        <p:spPr>
          <a:xfrm>
            <a:off x="0" y="0"/>
            <a:ext cx="121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</a:rPr>
              <a:t>c. Plot the 3 dB roll off of the active filter using a multimeter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5813329f1_0_16"/>
          <p:cNvSpPr txBox="1"/>
          <p:nvPr>
            <p:ph type="title"/>
          </p:nvPr>
        </p:nvSpPr>
        <p:spPr>
          <a:xfrm>
            <a:off x="838200" y="68103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pt-PT"/>
              <a:t>3 dB roll off of the active filter using an oscilloscope</a:t>
            </a:r>
            <a:endParaRPr b="1"/>
          </a:p>
        </p:txBody>
      </p:sp>
      <p:sp>
        <p:nvSpPr>
          <p:cNvPr id="197" name="Google Shape;197;g365813329f1_0_16"/>
          <p:cNvSpPr txBox="1"/>
          <p:nvPr>
            <p:ph type="title"/>
          </p:nvPr>
        </p:nvSpPr>
        <p:spPr>
          <a:xfrm>
            <a:off x="1052050" y="6043750"/>
            <a:ext cx="26841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PT" sz="2000"/>
              <a:t>Before 47 kΩ resistor</a:t>
            </a:r>
            <a:endParaRPr sz="2000"/>
          </a:p>
        </p:txBody>
      </p:sp>
      <p:sp>
        <p:nvSpPr>
          <p:cNvPr id="198" name="Google Shape;198;g365813329f1_0_16"/>
          <p:cNvSpPr txBox="1"/>
          <p:nvPr>
            <p:ph type="title"/>
          </p:nvPr>
        </p:nvSpPr>
        <p:spPr>
          <a:xfrm>
            <a:off x="8222875" y="6043750"/>
            <a:ext cx="26841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PT" sz="2000"/>
              <a:t>After</a:t>
            </a:r>
            <a:r>
              <a:rPr lang="pt-PT" sz="2000"/>
              <a:t> 47 kΩ resistor</a:t>
            </a:r>
            <a:endParaRPr sz="2000"/>
          </a:p>
        </p:txBody>
      </p:sp>
      <p:pic>
        <p:nvPicPr>
          <p:cNvPr id="199" name="Google Shape;199;g365813329f1_0_16" title="WhatsApp Image 2025-09-15 at 14.21.50.jpeg"/>
          <p:cNvPicPr preferRelativeResize="0"/>
          <p:nvPr/>
        </p:nvPicPr>
        <p:blipFill rotWithShape="1">
          <a:blip r:embed="rId3">
            <a:alphaModFix/>
          </a:blip>
          <a:srcRect b="8833" l="7296" r="8930" t="6313"/>
          <a:stretch/>
        </p:blipFill>
        <p:spPr>
          <a:xfrm>
            <a:off x="6730874" y="2110350"/>
            <a:ext cx="5015084" cy="380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65813329f1_0_16" title="WhatsApp Image 2025-09-15 at 14.28.08.jpeg"/>
          <p:cNvPicPr preferRelativeResize="0"/>
          <p:nvPr/>
        </p:nvPicPr>
        <p:blipFill rotWithShape="1">
          <a:blip r:embed="rId4">
            <a:alphaModFix/>
          </a:blip>
          <a:srcRect b="6544" l="4107" r="11554" t="12959"/>
          <a:stretch/>
        </p:blipFill>
        <p:spPr>
          <a:xfrm>
            <a:off x="838200" y="2110350"/>
            <a:ext cx="5382028" cy="385246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65813329f1_0_16"/>
          <p:cNvSpPr txBox="1"/>
          <p:nvPr/>
        </p:nvSpPr>
        <p:spPr>
          <a:xfrm>
            <a:off x="0" y="0"/>
            <a:ext cx="121920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</a:rPr>
              <a:t>c. Plot the 3 dB roll off of the active filter using an oscilloscope. </a:t>
            </a:r>
            <a:r>
              <a:rPr lang="pt-PT" sz="1800">
                <a:solidFill>
                  <a:schemeClr val="dk1"/>
                </a:solidFill>
              </a:rPr>
              <a:t>Compare the plots. For the oscilloscope, measure before and after the 47 kΩ resistor. Why is there a difference in the results?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5813329f1_0_24"/>
          <p:cNvSpPr txBox="1"/>
          <p:nvPr>
            <p:ph type="title"/>
          </p:nvPr>
        </p:nvSpPr>
        <p:spPr>
          <a:xfrm>
            <a:off x="838200" y="68103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pt-PT"/>
              <a:t>Gain stage - clipping</a:t>
            </a:r>
            <a:endParaRPr b="1"/>
          </a:p>
        </p:txBody>
      </p:sp>
      <p:pic>
        <p:nvPicPr>
          <p:cNvPr id="207" name="Google Shape;207;g365813329f1_0_24" title="WhatsApp Image 2025-09-15 at 13.35.09.jpeg"/>
          <p:cNvPicPr preferRelativeResize="0"/>
          <p:nvPr/>
        </p:nvPicPr>
        <p:blipFill rotWithShape="1">
          <a:blip r:embed="rId3">
            <a:alphaModFix/>
          </a:blip>
          <a:srcRect b="11173" l="8150" r="17211" t="17244"/>
          <a:stretch/>
        </p:blipFill>
        <p:spPr>
          <a:xfrm>
            <a:off x="2951013" y="2124075"/>
            <a:ext cx="6289976" cy="45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65813329f1_0_24"/>
          <p:cNvSpPr txBox="1"/>
          <p:nvPr/>
        </p:nvSpPr>
        <p:spPr>
          <a:xfrm>
            <a:off x="0" y="0"/>
            <a:ext cx="12192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</a:rPr>
              <a:t>d. Show with an oscilloscope that  lipping occurs when the gain is set too high. Set the gain to a value where there is no clipping.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5813329f1_0_28"/>
          <p:cNvSpPr txBox="1"/>
          <p:nvPr>
            <p:ph type="title"/>
          </p:nvPr>
        </p:nvSpPr>
        <p:spPr>
          <a:xfrm>
            <a:off x="735225" y="32621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pt-PT"/>
              <a:t>First Test in CW mode</a:t>
            </a:r>
            <a:endParaRPr b="1"/>
          </a:p>
        </p:txBody>
      </p:sp>
      <p:pic>
        <p:nvPicPr>
          <p:cNvPr id="214" name="Google Shape;214;g365813329f1_0_28" title="Vide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0275" y="1651925"/>
            <a:ext cx="6793150" cy="509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7"/>
          <p:cNvSpPr txBox="1"/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pt-PT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Plan for Next Week (Sub-groups 1 and 2)</a:t>
            </a:r>
            <a:endParaRPr/>
          </a:p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/>
              <a:t>Velocity Measurements in CW mode. (Sub-group 2)</a:t>
            </a:r>
            <a:endParaRPr sz="2400"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/>
              <a:t> Range Measurements in FMCW mode. (Sub-group 1):</a:t>
            </a:r>
            <a:endParaRPr sz="2400"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/>
              <a:t>Range-Doppler Measurements in FMCW mode. (Sub-group 1 and 2 together)</a:t>
            </a:r>
            <a:endParaRPr sz="2400"/>
          </a:p>
          <a:p>
            <a:pPr indent="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sz="2400"/>
              <a:t>Real-time Measurements.</a:t>
            </a:r>
            <a:endParaRPr b="1" sz="1200">
              <a:solidFill>
                <a:srgbClr val="FB0007"/>
              </a:solidFill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/>
              <a:t>Extract velocity from range using two-point finite difference method and compare it to range-doppler measurements.</a:t>
            </a:r>
            <a:endParaRPr sz="2400"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/>
              <a:t>FMCW Mode: Simultaneous range and velocity estimation by only processing the up and down chirp for a single target.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f7bfd526f_0_23"/>
          <p:cNvSpPr/>
          <p:nvPr/>
        </p:nvSpPr>
        <p:spPr>
          <a:xfrm>
            <a:off x="0" y="651752"/>
            <a:ext cx="12192000" cy="73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7f7bfd526f_0_23"/>
          <p:cNvSpPr txBox="1"/>
          <p:nvPr>
            <p:ph type="title"/>
          </p:nvPr>
        </p:nvSpPr>
        <p:spPr>
          <a:xfrm>
            <a:off x="556532" y="643467"/>
            <a:ext cx="11211000" cy="7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pt-PT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Plan for Next Week (Sub-groups 1 and 2)</a:t>
            </a:r>
            <a:endParaRPr/>
          </a:p>
        </p:txBody>
      </p:sp>
      <p:sp>
        <p:nvSpPr>
          <p:cNvPr id="228" name="Google Shape;228;g37f7bfd526f_0_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sz="2400"/>
              <a:t>Sub-group1:</a:t>
            </a:r>
            <a:endParaRPr sz="2400"/>
          </a:p>
          <a:p>
            <a:pPr indent="-2921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sz="2400"/>
              <a:t> </a:t>
            </a:r>
            <a:r>
              <a:rPr lang="pt-PT" sz="1350"/>
              <a:t>Write the MATLAB code for Time Domain Correlation, generating a SAR image using simulated point targets.</a:t>
            </a:r>
            <a:endParaRPr sz="1350"/>
          </a:p>
          <a:p>
            <a:pPr indent="-200025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</a:pPr>
            <a:r>
              <a:rPr lang="pt-PT" sz="1350"/>
              <a:t> SAR image measurement. Acquisition of the SAR image using the three available trihedral corner reflectors as targets</a:t>
            </a:r>
            <a:endParaRPr sz="1350"/>
          </a:p>
          <a:p>
            <a:pPr indent="-200025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</a:pPr>
            <a:r>
              <a:t/>
            </a:r>
            <a:endParaRPr sz="1350"/>
          </a:p>
          <a:p>
            <a:pPr indent="-266700" lvl="0" marL="2286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PT" sz="2400"/>
              <a:t>Sub-group2: </a:t>
            </a:r>
            <a:endParaRPr sz="2400"/>
          </a:p>
          <a:p>
            <a:pPr indent="-266700" lvl="1" marL="6858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PT" sz="1350"/>
              <a:t>Write the MATLAB code for the Range Migration Algorithm (RMA), generating a SAR image using simulated point targets.</a:t>
            </a:r>
            <a:endParaRPr sz="1350"/>
          </a:p>
          <a:p>
            <a:pPr indent="-2667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PT" sz="1350"/>
              <a:t>Write the MATLAB code for the Range Migration Algorithm (RMA), generating a SAR image using real targets. </a:t>
            </a:r>
            <a:endParaRPr sz="13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2025-09-08T20:04:49Z</dcterms:created>
  <dc:creator>RAFAEL ANTÓNIO DA CRUZ RODRIGUES</dc:creator>
</cp:coreProperties>
</file>