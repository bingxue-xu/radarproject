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9144000"/>
  <p:embeddedFontLst>
    <p:embeddedFont>
      <p:font typeface="Play"/>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iZc6A8mAmFDuC1fN1uVIwcdC+J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Play-bold.fntdata"/><Relationship Id="rId6" Type="http://schemas.openxmlformats.org/officeDocument/2006/relationships/slide" Target="slides/slide2.xml"/><Relationship Id="rId18" Type="http://schemas.openxmlformats.org/officeDocument/2006/relationships/font" Target="fonts/Play-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pt-PT"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68a881c85f_1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 name="Google Shape;100;g368a881c85f_1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490a3de980_3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g3490a3de980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68a789b285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g368a789b285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68a881c85f_1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 name="Google Shape;124;g368a881c85f_1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68a789b285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pt-PT" sz="1100"/>
              <a:t>In </a:t>
            </a:r>
            <a:r>
              <a:rPr b="1" lang="pt-PT" sz="1100"/>
              <a:t>CW mode</a:t>
            </a:r>
            <a:r>
              <a:rPr lang="pt-PT" sz="1100"/>
              <a:t>: target Doppler overlaps with hardware DC noise → poor detection for slow targets.</a:t>
            </a:r>
            <a:br>
              <a:rPr lang="pt-PT" sz="1100"/>
            </a:br>
            <a:endParaRPr sz="1100"/>
          </a:p>
          <a:p>
            <a:pPr indent="0" lvl="0" marL="0" rtl="0" algn="l">
              <a:spcBef>
                <a:spcPts val="0"/>
              </a:spcBef>
              <a:spcAft>
                <a:spcPts val="0"/>
              </a:spcAft>
              <a:buSzPts val="1100"/>
              <a:buNone/>
            </a:pPr>
            <a:r>
              <a:rPr lang="pt-PT" sz="1100"/>
              <a:t>In </a:t>
            </a:r>
            <a:r>
              <a:rPr b="1" lang="pt-PT" sz="1100"/>
              <a:t>Low-IF CW mode</a:t>
            </a:r>
            <a:r>
              <a:rPr lang="pt-PT" sz="1100"/>
              <a:t>:</a:t>
            </a:r>
            <a:endParaRPr sz="1100"/>
          </a:p>
          <a:p>
            <a:pPr indent="-298450" lvl="0" marL="457200" rtl="0" algn="l">
              <a:lnSpc>
                <a:spcPct val="115000"/>
              </a:lnSpc>
              <a:spcBef>
                <a:spcPts val="1200"/>
              </a:spcBef>
              <a:spcAft>
                <a:spcPts val="0"/>
              </a:spcAft>
              <a:buClr>
                <a:schemeClr val="dk1"/>
              </a:buClr>
              <a:buSzPts val="1100"/>
              <a:buChar char="●"/>
            </a:pPr>
            <a:r>
              <a:rPr lang="pt-PT" sz="1100"/>
              <a:t>You “park” the Doppler away from DC (where hardware artifacts live)</a:t>
            </a:r>
            <a:endParaRPr sz="1100"/>
          </a:p>
          <a:p>
            <a:pPr indent="-298450" lvl="0" marL="457200" rtl="0" algn="l">
              <a:lnSpc>
                <a:spcPct val="115000"/>
              </a:lnSpc>
              <a:spcBef>
                <a:spcPts val="0"/>
              </a:spcBef>
              <a:spcAft>
                <a:spcPts val="0"/>
              </a:spcAft>
              <a:buClr>
                <a:schemeClr val="dk1"/>
              </a:buClr>
              <a:buSzPts val="1100"/>
              <a:buChar char="●"/>
            </a:pPr>
            <a:r>
              <a:rPr lang="pt-PT" sz="1100"/>
              <a:t>DC offset is removed safely</a:t>
            </a:r>
            <a:r>
              <a:rPr lang="pt-PT" sz="1100"/>
              <a:t>.</a:t>
            </a:r>
            <a:endParaRPr sz="1100"/>
          </a:p>
          <a:p>
            <a:pPr indent="-298450" lvl="0" marL="457200" rtl="0" algn="l">
              <a:lnSpc>
                <a:spcPct val="115000"/>
              </a:lnSpc>
              <a:spcBef>
                <a:spcPts val="0"/>
              </a:spcBef>
              <a:spcAft>
                <a:spcPts val="0"/>
              </a:spcAft>
              <a:buClr>
                <a:schemeClr val="dk1"/>
              </a:buClr>
              <a:buSzPts val="1100"/>
              <a:buChar char="●"/>
            </a:pPr>
            <a:r>
              <a:rPr lang="pt-PT" sz="1100"/>
              <a:t>Then you bring Doppler back down digitally, which is cleaner and controlled.</a:t>
            </a:r>
            <a:endParaRPr sz="1100"/>
          </a:p>
          <a:p>
            <a:pPr indent="0" lvl="0" marL="0" rtl="0" algn="l">
              <a:lnSpc>
                <a:spcPct val="115000"/>
              </a:lnSpc>
              <a:spcBef>
                <a:spcPts val="1200"/>
              </a:spcBef>
              <a:spcAft>
                <a:spcPts val="0"/>
              </a:spcAft>
              <a:buClr>
                <a:schemeClr val="dk1"/>
              </a:buClr>
              <a:buSzPts val="1100"/>
              <a:buFont typeface="Arial"/>
              <a:buNone/>
            </a:pPr>
            <a:r>
              <a:rPr lang="pt-PT" sz="1100"/>
              <a:t>End result: </a:t>
            </a:r>
            <a:r>
              <a:rPr b="1" lang="pt-PT" sz="1100"/>
              <a:t>better SNR, especially for slow targets</a:t>
            </a:r>
            <a:r>
              <a:rPr lang="pt-PT" sz="1100"/>
              <a:t>, less baseline noise.</a:t>
            </a:r>
            <a:endParaRPr sz="1100"/>
          </a:p>
          <a:p>
            <a:pPr indent="0" lvl="0" marL="0" rtl="0" algn="l">
              <a:lnSpc>
                <a:spcPct val="100000"/>
              </a:lnSpc>
              <a:spcBef>
                <a:spcPts val="0"/>
              </a:spcBef>
              <a:spcAft>
                <a:spcPts val="0"/>
              </a:spcAft>
              <a:buSzPts val="1400"/>
              <a:buNone/>
            </a:pPr>
            <a:r>
              <a:t/>
            </a:r>
            <a:endParaRPr/>
          </a:p>
        </p:txBody>
      </p:sp>
      <p:sp>
        <p:nvSpPr>
          <p:cNvPr id="130" name="Google Shape;130;g368a789b285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68a789b285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pt-PT"/>
              <a:t>Using Low-IF CW mode improves results compared to CW because the Doppler signal is shifted away from the DC offset region where hardware imperfections dominate. After digital demodulation and filtering, the recovered Doppler spectrum has a cleaner baseline, higher SNR, and much better visibility of slow-moving targets.</a:t>
            </a:r>
            <a:endParaRPr/>
          </a:p>
        </p:txBody>
      </p:sp>
      <p:sp>
        <p:nvSpPr>
          <p:cNvPr id="139" name="Google Shape;139;g368a789b285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68a789b285_0_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8" name="Google Shape;148;g368a789b285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68a789b285_0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g368a789b285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68a789b285_0_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68a789b285_0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68a789b285_0_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g368a789b285_0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o de Título" type="title">
  <p:cSld name="TITLE">
    <p:spTree>
      <p:nvGrpSpPr>
        <p:cNvPr id="15" name="Shape 15"/>
        <p:cNvGrpSpPr/>
        <p:nvPr/>
      </p:nvGrpSpPr>
      <p:grpSpPr>
        <a:xfrm>
          <a:off x="0" y="0"/>
          <a:ext cx="0" cy="0"/>
          <a:chOff x="0" y="0"/>
          <a:chExt cx="0" cy="0"/>
        </a:xfrm>
      </p:grpSpPr>
      <p:sp>
        <p:nvSpPr>
          <p:cNvPr id="16" name="Google Shape;16;p2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Objeto" type="obj">
  <p:cSld name="OBJECT">
    <p:spTree>
      <p:nvGrpSpPr>
        <p:cNvPr id="21" name="Shape 21"/>
        <p:cNvGrpSpPr/>
        <p:nvPr/>
      </p:nvGrpSpPr>
      <p:grpSpPr>
        <a:xfrm>
          <a:off x="0" y="0"/>
          <a:ext cx="0" cy="0"/>
          <a:chOff x="0" y="0"/>
          <a:chExt cx="0" cy="0"/>
        </a:xfrm>
      </p:grpSpPr>
      <p:sp>
        <p:nvSpPr>
          <p:cNvPr id="22" name="Google Shape;22;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cção" type="secHead">
  <p:cSld name="SECTION_HEADER">
    <p:spTree>
      <p:nvGrpSpPr>
        <p:cNvPr id="27" name="Shape 27"/>
        <p:cNvGrpSpPr/>
        <p:nvPr/>
      </p:nvGrpSpPr>
      <p:grpSpPr>
        <a:xfrm>
          <a:off x="0" y="0"/>
          <a:ext cx="0" cy="0"/>
          <a:chOff x="0" y="0"/>
          <a:chExt cx="0" cy="0"/>
        </a:xfrm>
      </p:grpSpPr>
      <p:sp>
        <p:nvSpPr>
          <p:cNvPr id="28" name="Google Shape;28;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Duplo" type="twoObj">
  <p:cSld name="TWO_OBJECTS">
    <p:spTree>
      <p:nvGrpSpPr>
        <p:cNvPr id="33" name="Shape 33"/>
        <p:cNvGrpSpPr/>
        <p:nvPr/>
      </p:nvGrpSpPr>
      <p:grpSpPr>
        <a:xfrm>
          <a:off x="0" y="0"/>
          <a:ext cx="0" cy="0"/>
          <a:chOff x="0" y="0"/>
          <a:chExt cx="0" cy="0"/>
        </a:xfrm>
      </p:grpSpPr>
      <p:sp>
        <p:nvSpPr>
          <p:cNvPr id="34" name="Google Shape;34;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40" name="Shape 40"/>
        <p:cNvGrpSpPr/>
        <p:nvPr/>
      </p:nvGrpSpPr>
      <p:grpSpPr>
        <a:xfrm>
          <a:off x="0" y="0"/>
          <a:ext cx="0" cy="0"/>
          <a:chOff x="0" y="0"/>
          <a:chExt cx="0" cy="0"/>
        </a:xfrm>
      </p:grpSpPr>
      <p:sp>
        <p:nvSpPr>
          <p:cNvPr id="41" name="Google Shape;41;p3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 Título" type="titleOnly">
  <p:cSld name="TITLE_ONLY">
    <p:spTree>
      <p:nvGrpSpPr>
        <p:cNvPr id="49" name="Shape 49"/>
        <p:cNvGrpSpPr/>
        <p:nvPr/>
      </p:nvGrpSpPr>
      <p:grpSpPr>
        <a:xfrm>
          <a:off x="0" y="0"/>
          <a:ext cx="0" cy="0"/>
          <a:chOff x="0" y="0"/>
          <a:chExt cx="0" cy="0"/>
        </a:xfrm>
      </p:grpSpPr>
      <p:sp>
        <p:nvSpPr>
          <p:cNvPr id="50" name="Google Shape;50;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54" name="Shape 54"/>
        <p:cNvGrpSpPr/>
        <p:nvPr/>
      </p:nvGrpSpPr>
      <p:grpSpPr>
        <a:xfrm>
          <a:off x="0" y="0"/>
          <a:ext cx="0" cy="0"/>
          <a:chOff x="0" y="0"/>
          <a:chExt cx="0" cy="0"/>
        </a:xfrm>
      </p:grpSpPr>
      <p:sp>
        <p:nvSpPr>
          <p:cNvPr id="55" name="Google Shape;55;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58" name="Shape 58"/>
        <p:cNvGrpSpPr/>
        <p:nvPr/>
      </p:nvGrpSpPr>
      <p:grpSpPr>
        <a:xfrm>
          <a:off x="0" y="0"/>
          <a:ext cx="0" cy="0"/>
          <a:chOff x="0" y="0"/>
          <a:chExt cx="0" cy="0"/>
        </a:xfrm>
      </p:grpSpPr>
      <p:sp>
        <p:nvSpPr>
          <p:cNvPr id="59" name="Google Shape;59;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65" name="Shape 65"/>
        <p:cNvGrpSpPr/>
        <p:nvPr/>
      </p:nvGrpSpPr>
      <p:grpSpPr>
        <a:xfrm>
          <a:off x="0" y="0"/>
          <a:ext cx="0" cy="0"/>
          <a:chOff x="0" y="0"/>
          <a:chExt cx="0" cy="0"/>
        </a:xfrm>
      </p:grpSpPr>
      <p:sp>
        <p:nvSpPr>
          <p:cNvPr id="66" name="Google Shape;66;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7"/>
          <p:cNvSpPr/>
          <p:nvPr>
            <p:ph idx="2" type="pic"/>
          </p:nvPr>
        </p:nvSpPr>
        <p:spPr>
          <a:xfrm>
            <a:off x="5183188" y="987425"/>
            <a:ext cx="6172200" cy="4873625"/>
          </a:xfrm>
          <a:prstGeom prst="rect">
            <a:avLst/>
          </a:prstGeom>
          <a:noFill/>
          <a:ln>
            <a:noFill/>
          </a:ln>
        </p:spPr>
      </p:sp>
      <p:sp>
        <p:nvSpPr>
          <p:cNvPr id="68" name="Google Shape;68;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72" name="Shape 72"/>
        <p:cNvGrpSpPr/>
        <p:nvPr/>
      </p:nvGrpSpPr>
      <p:grpSpPr>
        <a:xfrm>
          <a:off x="0" y="0"/>
          <a:ext cx="0" cy="0"/>
          <a:chOff x="0" y="0"/>
          <a:chExt cx="0" cy="0"/>
        </a:xfrm>
      </p:grpSpPr>
      <p:sp>
        <p:nvSpPr>
          <p:cNvPr id="73" name="Google Shape;73;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e Texto" type="vertTitleAndTx">
  <p:cSld name="VERTICAL_TITLE_AND_VERTICAL_TEXT">
    <p:spTree>
      <p:nvGrpSpPr>
        <p:cNvPr id="78" name="Shape 78"/>
        <p:cNvGrpSpPr/>
        <p:nvPr/>
      </p:nvGrpSpPr>
      <p:grpSpPr>
        <a:xfrm>
          <a:off x="0" y="0"/>
          <a:ext cx="0" cy="0"/>
          <a:chOff x="0" y="0"/>
          <a:chExt cx="0" cy="0"/>
        </a:xfrm>
      </p:grpSpPr>
      <p:sp>
        <p:nvSpPr>
          <p:cNvPr id="79" name="Google Shape;79;p3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PT"/>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2.pn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7.png"/><Relationship Id="rId5" Type="http://schemas.openxmlformats.org/officeDocument/2006/relationships/image" Target="../media/image9.png"/><Relationship Id="rId6"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1.png"/><Relationship Id="rId4"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20.png"/><Relationship Id="rId6"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29.png"/><Relationship Id="rId5" Type="http://schemas.openxmlformats.org/officeDocument/2006/relationships/image" Target="../media/image31.png"/><Relationship Id="rId6"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6.png"/><Relationship Id="rId4" Type="http://schemas.openxmlformats.org/officeDocument/2006/relationships/image" Target="../media/image34.png"/><Relationship Id="rId5" Type="http://schemas.openxmlformats.org/officeDocument/2006/relationships/image" Target="../media/image24.png"/><Relationship Id="rId6"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0.png"/><Relationship Id="rId4" Type="http://schemas.openxmlformats.org/officeDocument/2006/relationships/image" Target="../media/image28.png"/><Relationship Id="rId5" Type="http://schemas.openxmlformats.org/officeDocument/2006/relationships/image" Target="../media/image33.png"/><Relationship Id="rId6"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524000" y="1166577"/>
            <a:ext cx="9144000" cy="1329435"/>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Play"/>
              <a:buNone/>
            </a:pPr>
            <a:r>
              <a:rPr b="1" lang="pt-PT"/>
              <a:t>Review Meeting 5</a:t>
            </a:r>
            <a:endParaRPr/>
          </a:p>
        </p:txBody>
      </p:sp>
      <p:sp>
        <p:nvSpPr>
          <p:cNvPr id="89" name="Google Shape;89;p1"/>
          <p:cNvSpPr txBox="1"/>
          <p:nvPr>
            <p:ph idx="1" type="subTitle"/>
          </p:nvPr>
        </p:nvSpPr>
        <p:spPr>
          <a:xfrm>
            <a:off x="1524000" y="2626895"/>
            <a:ext cx="9144000" cy="100887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pt-PT"/>
              <a:t>Build your own Radar System, Project Course</a:t>
            </a:r>
            <a:endParaRPr/>
          </a:p>
        </p:txBody>
      </p:sp>
      <p:sp>
        <p:nvSpPr>
          <p:cNvPr id="90" name="Google Shape;90;p1"/>
          <p:cNvSpPr txBox="1"/>
          <p:nvPr/>
        </p:nvSpPr>
        <p:spPr>
          <a:xfrm>
            <a:off x="2968557" y="3766651"/>
            <a:ext cx="6255000" cy="1908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pt-PT" sz="2000" u="none" cap="none" strike="noStrike">
                <a:solidFill>
                  <a:schemeClr val="dk1"/>
                </a:solidFill>
                <a:latin typeface="Arial"/>
                <a:ea typeface="Arial"/>
                <a:cs typeface="Arial"/>
                <a:sym typeface="Arial"/>
              </a:rPr>
              <a:t>Group 7</a:t>
            </a:r>
            <a:r>
              <a:rPr b="0" i="0" lang="pt-PT" sz="20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pt-PT" sz="2000" u="none" cap="none" strike="noStrike">
                <a:solidFill>
                  <a:schemeClr val="dk1"/>
                </a:solidFill>
                <a:latin typeface="Arial"/>
                <a:ea typeface="Arial"/>
                <a:cs typeface="Arial"/>
                <a:sym typeface="Arial"/>
              </a:rPr>
              <a:t>Bingxue Xu</a:t>
            </a:r>
            <a:endParaRPr b="0" i="0" sz="2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pt-PT" sz="2000" u="none" cap="none" strike="noStrike">
                <a:solidFill>
                  <a:schemeClr val="dk1"/>
                </a:solidFill>
                <a:latin typeface="Arial"/>
                <a:ea typeface="Arial"/>
                <a:cs typeface="Arial"/>
                <a:sym typeface="Arial"/>
              </a:rPr>
              <a:t>Nikita Dubrovskyi</a:t>
            </a:r>
            <a:endParaRPr b="0" i="0" sz="2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pt-PT" sz="2000" u="none" cap="none" strike="noStrike">
                <a:solidFill>
                  <a:schemeClr val="dk1"/>
                </a:solidFill>
                <a:latin typeface="Arial"/>
                <a:ea typeface="Arial"/>
                <a:cs typeface="Arial"/>
                <a:sym typeface="Arial"/>
              </a:rPr>
              <a:t>Rafael Rodrigues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pt-PT" sz="2000" u="none" cap="none" strike="noStrike">
                <a:solidFill>
                  <a:schemeClr val="dk1"/>
                </a:solidFill>
                <a:latin typeface="Arial"/>
                <a:ea typeface="Arial"/>
                <a:cs typeface="Arial"/>
                <a:sym typeface="Arial"/>
              </a:rPr>
              <a:t>Stefano Crescenza</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1" name="Google Shape;91;p1"/>
          <p:cNvSpPr txBox="1"/>
          <p:nvPr/>
        </p:nvSpPr>
        <p:spPr>
          <a:xfrm>
            <a:off x="2968557" y="6117105"/>
            <a:ext cx="6254885"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pt-PT" sz="2000" u="none" cap="none" strike="noStrike">
                <a:solidFill>
                  <a:schemeClr val="dk1"/>
                </a:solidFill>
                <a:latin typeface="Arial"/>
                <a:ea typeface="Arial"/>
                <a:cs typeface="Arial"/>
                <a:sym typeface="Arial"/>
              </a:rPr>
              <a:t>Tuesday, </a:t>
            </a:r>
            <a:r>
              <a:rPr lang="pt-PT" sz="2000">
                <a:solidFill>
                  <a:schemeClr val="dk1"/>
                </a:solidFill>
              </a:rPr>
              <a:t>07</a:t>
            </a:r>
            <a:r>
              <a:rPr b="0" i="0" lang="pt-PT" sz="2000" u="none" cap="none" strike="noStrike">
                <a:solidFill>
                  <a:schemeClr val="dk1"/>
                </a:solidFill>
                <a:latin typeface="Arial"/>
                <a:ea typeface="Arial"/>
                <a:cs typeface="Arial"/>
                <a:sym typeface="Arial"/>
              </a:rPr>
              <a:t>/</a:t>
            </a:r>
            <a:r>
              <a:rPr lang="pt-PT" sz="2000">
                <a:solidFill>
                  <a:schemeClr val="dk1"/>
                </a:solidFill>
              </a:rPr>
              <a:t>10</a:t>
            </a:r>
            <a:r>
              <a:rPr b="0" i="0" lang="pt-PT" sz="2000" u="none" cap="none" strike="noStrike">
                <a:solidFill>
                  <a:schemeClr val="dk1"/>
                </a:solidFill>
                <a:latin typeface="Arial"/>
                <a:ea typeface="Arial"/>
                <a:cs typeface="Arial"/>
                <a:sym typeface="Arial"/>
              </a:rPr>
              <a:t>/2025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pt-PT"/>
              <a:t>Week Achievements: SDR Radar</a:t>
            </a:r>
            <a:endParaRPr b="1"/>
          </a:p>
        </p:txBody>
      </p:sp>
      <p:sp>
        <p:nvSpPr>
          <p:cNvPr id="97" name="Google Shape;97;p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SzPts val="2800"/>
              <a:buChar char="•"/>
            </a:pPr>
            <a:r>
              <a:rPr lang="pt-PT" sz="2400"/>
              <a:t>Velocity Measurements in CW mode without Power Amplifier.</a:t>
            </a:r>
            <a:endParaRPr sz="2400"/>
          </a:p>
          <a:p>
            <a:pPr indent="-381000" lvl="1" marL="914400" marR="0" rtl="0" algn="l">
              <a:lnSpc>
                <a:spcPct val="90000"/>
              </a:lnSpc>
              <a:spcBef>
                <a:spcPts val="0"/>
              </a:spcBef>
              <a:spcAft>
                <a:spcPts val="0"/>
              </a:spcAft>
              <a:buSzPts val="2400"/>
              <a:buChar char="•"/>
            </a:pPr>
            <a:r>
              <a:rPr lang="pt-PT"/>
              <a:t>a. Single Target</a:t>
            </a:r>
            <a:endParaRPr/>
          </a:p>
          <a:p>
            <a:pPr indent="-381000" lvl="1" marL="914400" marR="0" rtl="0" algn="l">
              <a:lnSpc>
                <a:spcPct val="90000"/>
              </a:lnSpc>
              <a:spcBef>
                <a:spcPts val="0"/>
              </a:spcBef>
              <a:spcAft>
                <a:spcPts val="0"/>
              </a:spcAft>
              <a:buSzPts val="2400"/>
              <a:buChar char="•"/>
            </a:pPr>
            <a:r>
              <a:rPr lang="pt-PT"/>
              <a:t>b</a:t>
            </a:r>
            <a:r>
              <a:rPr lang="pt-PT"/>
              <a:t>. Multiple Targets</a:t>
            </a:r>
            <a:endParaRPr/>
          </a:p>
          <a:p>
            <a:pPr indent="0" lvl="0" marL="457200" marR="0" rtl="0" algn="l">
              <a:lnSpc>
                <a:spcPct val="90000"/>
              </a:lnSpc>
              <a:spcBef>
                <a:spcPts val="0"/>
              </a:spcBef>
              <a:spcAft>
                <a:spcPts val="0"/>
              </a:spcAft>
              <a:buSzPts val="1800"/>
              <a:buNone/>
            </a:pPr>
            <a:r>
              <a:t/>
            </a:r>
            <a:endParaRPr sz="2400"/>
          </a:p>
          <a:p>
            <a:pPr indent="-228600" lvl="0" marL="228600" marR="0" rtl="0" algn="l">
              <a:lnSpc>
                <a:spcPct val="90000"/>
              </a:lnSpc>
              <a:spcBef>
                <a:spcPts val="0"/>
              </a:spcBef>
              <a:spcAft>
                <a:spcPts val="0"/>
              </a:spcAft>
              <a:buSzPts val="2800"/>
              <a:buChar char="•"/>
            </a:pPr>
            <a:r>
              <a:rPr lang="pt-PT" sz="2400"/>
              <a:t>Velocity Measurements in Low-IF CW mode without Power Amplifier.</a:t>
            </a:r>
            <a:endParaRPr sz="2400"/>
          </a:p>
          <a:p>
            <a:pPr indent="-381000" lvl="1" marL="914400" rtl="0" algn="l">
              <a:spcBef>
                <a:spcPts val="0"/>
              </a:spcBef>
              <a:spcAft>
                <a:spcPts val="0"/>
              </a:spcAft>
              <a:buSzPts val="2400"/>
              <a:buChar char="•"/>
            </a:pPr>
            <a:r>
              <a:rPr lang="pt-PT" sz="2400"/>
              <a:t>a. Single Target</a:t>
            </a:r>
            <a:endParaRPr sz="2400"/>
          </a:p>
          <a:p>
            <a:pPr indent="-381000" lvl="1" marL="914400" rtl="0" algn="l">
              <a:spcBef>
                <a:spcPts val="0"/>
              </a:spcBef>
              <a:spcAft>
                <a:spcPts val="0"/>
              </a:spcAft>
              <a:buSzPts val="2400"/>
              <a:buChar char="•"/>
            </a:pPr>
            <a:r>
              <a:rPr lang="pt-PT" sz="2400"/>
              <a:t>b. Multiple Targets</a:t>
            </a:r>
            <a:endParaRPr sz="2400"/>
          </a:p>
          <a:p>
            <a:pPr indent="0" lvl="0" marL="0" marR="0" rtl="0" algn="l">
              <a:lnSpc>
                <a:spcPct val="90000"/>
              </a:lnSpc>
              <a:spcBef>
                <a:spcPts val="0"/>
              </a:spcBef>
              <a:spcAft>
                <a:spcPts val="0"/>
              </a:spcAft>
              <a:buNone/>
            </a:pPr>
            <a:r>
              <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368a881c85f_1_16"/>
          <p:cNvSpPr txBox="1"/>
          <p:nvPr>
            <p:ph type="title"/>
          </p:nvPr>
        </p:nvSpPr>
        <p:spPr>
          <a:xfrm>
            <a:off x="0" y="68025"/>
            <a:ext cx="12192000" cy="936300"/>
          </a:xfrm>
          <a:prstGeom prst="rect">
            <a:avLst/>
          </a:prstGeom>
          <a:noFill/>
          <a:ln>
            <a:noFill/>
          </a:ln>
        </p:spPr>
        <p:txBody>
          <a:bodyPr anchorCtr="0" anchor="t" bIns="45700" lIns="91425" spcFirstLastPara="1" rIns="91425" wrap="square" tIns="45700">
            <a:normAutofit/>
          </a:bodyPr>
          <a:lstStyle/>
          <a:p>
            <a:pPr indent="-342900" lvl="0" marL="457200" rtl="0" algn="l">
              <a:lnSpc>
                <a:spcPct val="115000"/>
              </a:lnSpc>
              <a:spcBef>
                <a:spcPts val="0"/>
              </a:spcBef>
              <a:spcAft>
                <a:spcPts val="0"/>
              </a:spcAft>
              <a:buSzPts val="1800"/>
              <a:buFont typeface="Arial"/>
              <a:buAutoNum type="arabicPeriod"/>
            </a:pPr>
            <a:r>
              <a:rPr b="1" lang="pt-PT" sz="1800">
                <a:latin typeface="Arial"/>
                <a:ea typeface="Arial"/>
                <a:cs typeface="Arial"/>
                <a:sym typeface="Arial"/>
              </a:rPr>
              <a:t>Velocity Measurements in </a:t>
            </a:r>
            <a:r>
              <a:rPr b="1" lang="pt-PT" sz="1800">
                <a:solidFill>
                  <a:schemeClr val="accent4"/>
                </a:solidFill>
                <a:latin typeface="Arial"/>
                <a:ea typeface="Arial"/>
                <a:cs typeface="Arial"/>
                <a:sym typeface="Arial"/>
              </a:rPr>
              <a:t>CW mode </a:t>
            </a:r>
            <a:r>
              <a:rPr b="1" lang="pt-PT" sz="1800">
                <a:latin typeface="Arial"/>
                <a:ea typeface="Arial"/>
                <a:cs typeface="Arial"/>
                <a:sym typeface="Arial"/>
              </a:rPr>
              <a:t>without Power Amplifier. (Sub-group 2)</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pt-PT" sz="1255">
                <a:latin typeface="Arial"/>
                <a:ea typeface="Arial"/>
                <a:cs typeface="Arial"/>
                <a:sym typeface="Arial"/>
              </a:rPr>
              <a:t>G</a:t>
            </a:r>
            <a:r>
              <a:rPr b="1" lang="pt-PT" sz="1255">
                <a:latin typeface="Arial"/>
                <a:ea typeface="Arial"/>
                <a:cs typeface="Arial"/>
                <a:sym typeface="Arial"/>
              </a:rPr>
              <a:t>NU Radio schematic</a:t>
            </a:r>
            <a:endParaRPr b="1" sz="1800">
              <a:solidFill>
                <a:schemeClr val="accent4"/>
              </a:solidFill>
              <a:latin typeface="Arial"/>
              <a:ea typeface="Arial"/>
              <a:cs typeface="Arial"/>
              <a:sym typeface="Arial"/>
            </a:endParaRPr>
          </a:p>
        </p:txBody>
      </p:sp>
      <p:pic>
        <p:nvPicPr>
          <p:cNvPr id="103" name="Google Shape;103;g368a881c85f_1_16" title="CW.png"/>
          <p:cNvPicPr preferRelativeResize="0"/>
          <p:nvPr/>
        </p:nvPicPr>
        <p:blipFill>
          <a:blip r:embed="rId3">
            <a:alphaModFix/>
          </a:blip>
          <a:stretch>
            <a:fillRect/>
          </a:stretch>
        </p:blipFill>
        <p:spPr>
          <a:xfrm>
            <a:off x="1698637" y="841025"/>
            <a:ext cx="8794725" cy="5915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490a3de980_3_0"/>
          <p:cNvSpPr txBox="1"/>
          <p:nvPr>
            <p:ph type="title"/>
          </p:nvPr>
        </p:nvSpPr>
        <p:spPr>
          <a:xfrm>
            <a:off x="0" y="0"/>
            <a:ext cx="12192000" cy="1904100"/>
          </a:xfrm>
          <a:prstGeom prst="rect">
            <a:avLst/>
          </a:prstGeom>
          <a:noFill/>
          <a:ln>
            <a:noFill/>
          </a:ln>
        </p:spPr>
        <p:txBody>
          <a:bodyPr anchorCtr="0" anchor="ctr" bIns="45700" lIns="91425" spcFirstLastPara="1" rIns="91425" wrap="square" tIns="45700">
            <a:normAutofit/>
          </a:bodyPr>
          <a:lstStyle/>
          <a:p>
            <a:pPr indent="-342900" lvl="0" marL="457200" rtl="0" algn="l">
              <a:lnSpc>
                <a:spcPct val="115000"/>
              </a:lnSpc>
              <a:spcBef>
                <a:spcPts val="0"/>
              </a:spcBef>
              <a:spcAft>
                <a:spcPts val="0"/>
              </a:spcAft>
              <a:buSzPts val="1800"/>
              <a:buFont typeface="Arial"/>
              <a:buAutoNum type="arabicPeriod"/>
            </a:pPr>
            <a:r>
              <a:rPr b="1" lang="pt-PT" sz="1800">
                <a:latin typeface="Arial"/>
                <a:ea typeface="Arial"/>
                <a:cs typeface="Arial"/>
                <a:sym typeface="Arial"/>
              </a:rPr>
              <a:t>Velocity Measurements in </a:t>
            </a:r>
            <a:r>
              <a:rPr b="1" lang="pt-PT" sz="1800">
                <a:solidFill>
                  <a:schemeClr val="accent4"/>
                </a:solidFill>
                <a:latin typeface="Arial"/>
                <a:ea typeface="Arial"/>
                <a:cs typeface="Arial"/>
                <a:sym typeface="Arial"/>
              </a:rPr>
              <a:t>CW mode </a:t>
            </a:r>
            <a:r>
              <a:rPr b="1" lang="pt-PT" sz="1800">
                <a:latin typeface="Arial"/>
                <a:ea typeface="Arial"/>
                <a:cs typeface="Arial"/>
                <a:sym typeface="Arial"/>
              </a:rPr>
              <a:t>without Power Amplifier. (Sub-group 2)</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pt-PT" sz="1255">
                <a:latin typeface="Arial"/>
                <a:ea typeface="Arial"/>
                <a:cs typeface="Arial"/>
                <a:sym typeface="Arial"/>
              </a:rPr>
              <a:t>a. Velocity Measurements of a </a:t>
            </a:r>
            <a:r>
              <a:rPr b="1" lang="pt-PT" sz="1800">
                <a:solidFill>
                  <a:schemeClr val="accent4"/>
                </a:solidFill>
                <a:latin typeface="Arial"/>
                <a:ea typeface="Arial"/>
                <a:cs typeface="Arial"/>
                <a:sym typeface="Arial"/>
              </a:rPr>
              <a:t>single target</a:t>
            </a:r>
            <a:r>
              <a:rPr b="1" lang="pt-PT" sz="1255">
                <a:latin typeface="Arial"/>
                <a:ea typeface="Arial"/>
                <a:cs typeface="Arial"/>
                <a:sym typeface="Arial"/>
              </a:rPr>
              <a:t>. Signal processing using your Matlab code</a:t>
            </a:r>
            <a:endParaRPr b="1" sz="1255">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pt-PT" sz="1255">
                <a:latin typeface="Arial"/>
                <a:ea typeface="Arial"/>
                <a:cs typeface="Arial"/>
                <a:sym typeface="Arial"/>
              </a:rPr>
              <a:t>for the COTS radar: show captured data plot, velocity vs time plot (hint: take the</a:t>
            </a:r>
            <a:endParaRPr b="1" sz="1255">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pt-PT" sz="1255">
                <a:latin typeface="Arial"/>
                <a:ea typeface="Arial"/>
                <a:cs typeface="Arial"/>
                <a:sym typeface="Arial"/>
              </a:rPr>
              <a:t>strongest scatterer), velocity vs time spectrogram, GNU Radio schematic</a:t>
            </a:r>
            <a:endParaRPr b="1" sz="1255">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b="1" sz="1800">
              <a:solidFill>
                <a:schemeClr val="accent4"/>
              </a:solidFill>
              <a:latin typeface="Arial"/>
              <a:ea typeface="Arial"/>
              <a:cs typeface="Arial"/>
              <a:sym typeface="Arial"/>
            </a:endParaRPr>
          </a:p>
        </p:txBody>
      </p:sp>
      <p:pic>
        <p:nvPicPr>
          <p:cNvPr id="109" name="Google Shape;109;g3490a3de980_3_0"/>
          <p:cNvPicPr preferRelativeResize="0"/>
          <p:nvPr/>
        </p:nvPicPr>
        <p:blipFill>
          <a:blip r:embed="rId3">
            <a:alphaModFix/>
          </a:blip>
          <a:stretch>
            <a:fillRect/>
          </a:stretch>
        </p:blipFill>
        <p:spPr>
          <a:xfrm>
            <a:off x="2043938" y="1614150"/>
            <a:ext cx="3962401" cy="2554024"/>
          </a:xfrm>
          <a:prstGeom prst="rect">
            <a:avLst/>
          </a:prstGeom>
          <a:noFill/>
          <a:ln>
            <a:noFill/>
          </a:ln>
        </p:spPr>
      </p:pic>
      <p:pic>
        <p:nvPicPr>
          <p:cNvPr id="110" name="Google Shape;110;g3490a3de980_3_0"/>
          <p:cNvPicPr preferRelativeResize="0"/>
          <p:nvPr/>
        </p:nvPicPr>
        <p:blipFill>
          <a:blip r:embed="rId4">
            <a:alphaModFix/>
          </a:blip>
          <a:stretch>
            <a:fillRect/>
          </a:stretch>
        </p:blipFill>
        <p:spPr>
          <a:xfrm>
            <a:off x="6185663" y="1614150"/>
            <a:ext cx="3962401" cy="2554024"/>
          </a:xfrm>
          <a:prstGeom prst="rect">
            <a:avLst/>
          </a:prstGeom>
          <a:noFill/>
          <a:ln>
            <a:noFill/>
          </a:ln>
        </p:spPr>
      </p:pic>
      <p:pic>
        <p:nvPicPr>
          <p:cNvPr id="111" name="Google Shape;111;g3490a3de980_3_0" title="Spec_with_Velocities.png"/>
          <p:cNvPicPr preferRelativeResize="0"/>
          <p:nvPr/>
        </p:nvPicPr>
        <p:blipFill>
          <a:blip r:embed="rId5">
            <a:alphaModFix/>
          </a:blip>
          <a:stretch>
            <a:fillRect/>
          </a:stretch>
        </p:blipFill>
        <p:spPr>
          <a:xfrm>
            <a:off x="6372964" y="4168175"/>
            <a:ext cx="3587800" cy="2689825"/>
          </a:xfrm>
          <a:prstGeom prst="rect">
            <a:avLst/>
          </a:prstGeom>
          <a:noFill/>
          <a:ln>
            <a:noFill/>
          </a:ln>
        </p:spPr>
      </p:pic>
      <p:pic>
        <p:nvPicPr>
          <p:cNvPr id="112" name="Google Shape;112;g3490a3de980_3_0" title="Velocity_vs_Time_curves.png"/>
          <p:cNvPicPr preferRelativeResize="0"/>
          <p:nvPr/>
        </p:nvPicPr>
        <p:blipFill>
          <a:blip r:embed="rId6">
            <a:alphaModFix/>
          </a:blip>
          <a:stretch>
            <a:fillRect/>
          </a:stretch>
        </p:blipFill>
        <p:spPr>
          <a:xfrm>
            <a:off x="2231237" y="4168164"/>
            <a:ext cx="3587800" cy="268983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368a789b285_0_1"/>
          <p:cNvSpPr txBox="1"/>
          <p:nvPr>
            <p:ph type="title"/>
          </p:nvPr>
        </p:nvSpPr>
        <p:spPr>
          <a:xfrm>
            <a:off x="0" y="0"/>
            <a:ext cx="12192000" cy="1904100"/>
          </a:xfrm>
          <a:prstGeom prst="rect">
            <a:avLst/>
          </a:prstGeom>
          <a:noFill/>
          <a:ln>
            <a:noFill/>
          </a:ln>
        </p:spPr>
        <p:txBody>
          <a:bodyPr anchorCtr="0" anchor="ctr" bIns="45700" lIns="91425" spcFirstLastPara="1" rIns="91425" wrap="square" tIns="45700">
            <a:normAutofit/>
          </a:bodyPr>
          <a:lstStyle/>
          <a:p>
            <a:pPr indent="-342900" lvl="0" marL="457200" rtl="0" algn="l">
              <a:lnSpc>
                <a:spcPct val="115000"/>
              </a:lnSpc>
              <a:spcBef>
                <a:spcPts val="0"/>
              </a:spcBef>
              <a:spcAft>
                <a:spcPts val="0"/>
              </a:spcAft>
              <a:buSzPts val="1800"/>
              <a:buFont typeface="Arial"/>
              <a:buAutoNum type="arabicPeriod"/>
            </a:pPr>
            <a:r>
              <a:rPr b="1" lang="pt-PT" sz="1800">
                <a:latin typeface="Arial"/>
                <a:ea typeface="Arial"/>
                <a:cs typeface="Arial"/>
                <a:sym typeface="Arial"/>
              </a:rPr>
              <a:t>Velocity Measurements in</a:t>
            </a:r>
            <a:r>
              <a:rPr b="1" lang="pt-PT" sz="1800">
                <a:solidFill>
                  <a:schemeClr val="accent4"/>
                </a:solidFill>
                <a:latin typeface="Arial"/>
                <a:ea typeface="Arial"/>
                <a:cs typeface="Arial"/>
                <a:sym typeface="Arial"/>
              </a:rPr>
              <a:t> CW mode</a:t>
            </a:r>
            <a:r>
              <a:rPr b="1" lang="pt-PT" sz="1800">
                <a:latin typeface="Arial"/>
                <a:ea typeface="Arial"/>
                <a:cs typeface="Arial"/>
                <a:sym typeface="Arial"/>
              </a:rPr>
              <a:t> without Power Amplifier. (Sub-group 2)</a:t>
            </a:r>
            <a:endParaRPr b="1" sz="1255">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pt-PT" sz="1255">
                <a:latin typeface="Arial"/>
                <a:ea typeface="Arial"/>
                <a:cs typeface="Arial"/>
                <a:sym typeface="Arial"/>
              </a:rPr>
              <a:t>b. Velocity Measurements </a:t>
            </a:r>
            <a:r>
              <a:rPr b="1" lang="pt-PT" sz="1255">
                <a:latin typeface="Arial"/>
                <a:ea typeface="Arial"/>
                <a:cs typeface="Arial"/>
                <a:sym typeface="Arial"/>
              </a:rPr>
              <a:t>of</a:t>
            </a:r>
            <a:r>
              <a:rPr b="1" lang="pt-PT" sz="1255">
                <a:latin typeface="Arial"/>
                <a:ea typeface="Arial"/>
                <a:cs typeface="Arial"/>
                <a:sym typeface="Arial"/>
              </a:rPr>
              <a:t> </a:t>
            </a:r>
            <a:r>
              <a:rPr b="1" lang="pt-PT" sz="1800">
                <a:solidFill>
                  <a:schemeClr val="accent4"/>
                </a:solidFill>
                <a:latin typeface="Arial"/>
                <a:ea typeface="Arial"/>
                <a:cs typeface="Arial"/>
                <a:sym typeface="Arial"/>
              </a:rPr>
              <a:t>multiple targets</a:t>
            </a:r>
            <a:r>
              <a:rPr b="1" lang="pt-PT" sz="1255">
                <a:latin typeface="Arial"/>
                <a:ea typeface="Arial"/>
                <a:cs typeface="Arial"/>
                <a:sym typeface="Arial"/>
              </a:rPr>
              <a:t>. Signal processing using your Matlab code</a:t>
            </a:r>
            <a:endParaRPr b="1" sz="1255">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pt-PT" sz="1255">
                <a:latin typeface="Arial"/>
                <a:ea typeface="Arial"/>
                <a:cs typeface="Arial"/>
                <a:sym typeface="Arial"/>
              </a:rPr>
              <a:t>for the COTS radar: show captured data plot, velocity vs time plot, velocity vs time</a:t>
            </a:r>
            <a:endParaRPr b="1" sz="1255">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pt-PT" sz="1255">
                <a:latin typeface="Arial"/>
                <a:ea typeface="Arial"/>
                <a:cs typeface="Arial"/>
                <a:sym typeface="Arial"/>
              </a:rPr>
              <a:t>spectrogram, GNU Radio schematic</a:t>
            </a:r>
            <a:endParaRPr b="1" sz="1255">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b="1" sz="1800">
              <a:solidFill>
                <a:schemeClr val="accent4"/>
              </a:solidFill>
              <a:latin typeface="Arial"/>
              <a:ea typeface="Arial"/>
              <a:cs typeface="Arial"/>
              <a:sym typeface="Arial"/>
            </a:endParaRPr>
          </a:p>
        </p:txBody>
      </p:sp>
      <p:pic>
        <p:nvPicPr>
          <p:cNvPr id="118" name="Google Shape;118;g368a789b285_0_1"/>
          <p:cNvPicPr preferRelativeResize="0"/>
          <p:nvPr/>
        </p:nvPicPr>
        <p:blipFill>
          <a:blip r:embed="rId3">
            <a:alphaModFix/>
          </a:blip>
          <a:stretch>
            <a:fillRect/>
          </a:stretch>
        </p:blipFill>
        <p:spPr>
          <a:xfrm>
            <a:off x="2022500" y="1464825"/>
            <a:ext cx="3969450" cy="2558565"/>
          </a:xfrm>
          <a:prstGeom prst="rect">
            <a:avLst/>
          </a:prstGeom>
          <a:noFill/>
          <a:ln>
            <a:noFill/>
          </a:ln>
        </p:spPr>
      </p:pic>
      <p:pic>
        <p:nvPicPr>
          <p:cNvPr id="119" name="Google Shape;119;g368a789b285_0_1"/>
          <p:cNvPicPr preferRelativeResize="0"/>
          <p:nvPr/>
        </p:nvPicPr>
        <p:blipFill>
          <a:blip r:embed="rId4">
            <a:alphaModFix/>
          </a:blip>
          <a:stretch>
            <a:fillRect/>
          </a:stretch>
        </p:blipFill>
        <p:spPr>
          <a:xfrm>
            <a:off x="6235900" y="1464825"/>
            <a:ext cx="3969450" cy="2558576"/>
          </a:xfrm>
          <a:prstGeom prst="rect">
            <a:avLst/>
          </a:prstGeom>
          <a:noFill/>
          <a:ln>
            <a:noFill/>
          </a:ln>
        </p:spPr>
      </p:pic>
      <p:pic>
        <p:nvPicPr>
          <p:cNvPr id="120" name="Google Shape;120;g368a789b285_0_1"/>
          <p:cNvPicPr preferRelativeResize="0"/>
          <p:nvPr/>
        </p:nvPicPr>
        <p:blipFill>
          <a:blip r:embed="rId5">
            <a:alphaModFix/>
          </a:blip>
          <a:stretch>
            <a:fillRect/>
          </a:stretch>
        </p:blipFill>
        <p:spPr>
          <a:xfrm>
            <a:off x="1986650" y="4175790"/>
            <a:ext cx="3840634" cy="2529809"/>
          </a:xfrm>
          <a:prstGeom prst="rect">
            <a:avLst/>
          </a:prstGeom>
          <a:noFill/>
          <a:ln>
            <a:noFill/>
          </a:ln>
        </p:spPr>
      </p:pic>
      <p:pic>
        <p:nvPicPr>
          <p:cNvPr id="121" name="Google Shape;121;g368a789b285_0_1"/>
          <p:cNvPicPr preferRelativeResize="0"/>
          <p:nvPr/>
        </p:nvPicPr>
        <p:blipFill>
          <a:blip r:embed="rId6">
            <a:alphaModFix/>
          </a:blip>
          <a:stretch>
            <a:fillRect/>
          </a:stretch>
        </p:blipFill>
        <p:spPr>
          <a:xfrm>
            <a:off x="6235909" y="4130440"/>
            <a:ext cx="3840634" cy="252980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68a881c85f_1_25"/>
          <p:cNvSpPr txBox="1"/>
          <p:nvPr>
            <p:ph type="title"/>
          </p:nvPr>
        </p:nvSpPr>
        <p:spPr>
          <a:xfrm>
            <a:off x="0" y="68025"/>
            <a:ext cx="12192000" cy="936300"/>
          </a:xfrm>
          <a:prstGeom prst="rect">
            <a:avLst/>
          </a:prstGeom>
          <a:noFill/>
          <a:ln>
            <a:noFill/>
          </a:ln>
        </p:spPr>
        <p:txBody>
          <a:bodyPr anchorCtr="0" anchor="t" bIns="45700" lIns="91425" spcFirstLastPara="1" rIns="91425" wrap="square" tIns="45700">
            <a:normAutofit/>
          </a:bodyPr>
          <a:lstStyle/>
          <a:p>
            <a:pPr indent="-342900" lvl="0" marL="457200" rtl="0" algn="l">
              <a:lnSpc>
                <a:spcPct val="115000"/>
              </a:lnSpc>
              <a:spcBef>
                <a:spcPts val="0"/>
              </a:spcBef>
              <a:spcAft>
                <a:spcPts val="0"/>
              </a:spcAft>
              <a:buSzPts val="1800"/>
              <a:buFont typeface="Arial"/>
              <a:buAutoNum type="arabicPeriod" startAt="2"/>
            </a:pPr>
            <a:r>
              <a:rPr b="1" lang="pt-PT" sz="1800">
                <a:latin typeface="Arial"/>
                <a:ea typeface="Arial"/>
                <a:cs typeface="Arial"/>
                <a:sym typeface="Arial"/>
              </a:rPr>
              <a:t>Velocity Measurements in </a:t>
            </a:r>
            <a:r>
              <a:rPr b="1" lang="pt-PT" sz="1800">
                <a:solidFill>
                  <a:schemeClr val="accent4"/>
                </a:solidFill>
                <a:latin typeface="Arial"/>
                <a:ea typeface="Arial"/>
                <a:cs typeface="Arial"/>
                <a:sym typeface="Arial"/>
              </a:rPr>
              <a:t>Low-IF CW mode </a:t>
            </a:r>
            <a:r>
              <a:rPr b="1" lang="pt-PT" sz="1800">
                <a:latin typeface="Arial"/>
                <a:ea typeface="Arial"/>
                <a:cs typeface="Arial"/>
                <a:sym typeface="Arial"/>
              </a:rPr>
              <a:t>without Power Amplifier. (Sub-group 1)</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pt-PT" sz="1255">
                <a:latin typeface="Arial"/>
                <a:ea typeface="Arial"/>
                <a:cs typeface="Arial"/>
                <a:sym typeface="Arial"/>
              </a:rPr>
              <a:t>GNU Radio schematic</a:t>
            </a:r>
            <a:endParaRPr b="1" sz="1800">
              <a:solidFill>
                <a:schemeClr val="accent4"/>
              </a:solidFill>
              <a:latin typeface="Arial"/>
              <a:ea typeface="Arial"/>
              <a:cs typeface="Arial"/>
              <a:sym typeface="Arial"/>
            </a:endParaRPr>
          </a:p>
        </p:txBody>
      </p:sp>
      <p:pic>
        <p:nvPicPr>
          <p:cNvPr id="127" name="Google Shape;127;g368a881c85f_1_25" title="LIF_CW.png"/>
          <p:cNvPicPr preferRelativeResize="0"/>
          <p:nvPr/>
        </p:nvPicPr>
        <p:blipFill rotWithShape="1">
          <a:blip r:embed="rId3">
            <a:alphaModFix/>
          </a:blip>
          <a:srcRect b="0" l="0" r="0" t="950"/>
          <a:stretch/>
        </p:blipFill>
        <p:spPr>
          <a:xfrm>
            <a:off x="125100" y="830125"/>
            <a:ext cx="11941801" cy="586487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68a789b285_0_5"/>
          <p:cNvSpPr txBox="1"/>
          <p:nvPr>
            <p:ph type="title"/>
          </p:nvPr>
        </p:nvSpPr>
        <p:spPr>
          <a:xfrm>
            <a:off x="0" y="0"/>
            <a:ext cx="12192000" cy="2516100"/>
          </a:xfrm>
          <a:prstGeom prst="rect">
            <a:avLst/>
          </a:prstGeom>
          <a:noFill/>
          <a:ln>
            <a:noFill/>
          </a:ln>
        </p:spPr>
        <p:txBody>
          <a:bodyPr anchorCtr="0" anchor="ctr" bIns="45700" lIns="91425" spcFirstLastPara="1" rIns="91425" wrap="square" tIns="45700">
            <a:normAutofit/>
          </a:bodyPr>
          <a:lstStyle/>
          <a:p>
            <a:pPr indent="0" lvl="0" marL="0" rtl="0" algn="l">
              <a:lnSpc>
                <a:spcPct val="115000"/>
              </a:lnSpc>
              <a:spcBef>
                <a:spcPts val="0"/>
              </a:spcBef>
              <a:spcAft>
                <a:spcPts val="0"/>
              </a:spcAft>
              <a:buClr>
                <a:schemeClr val="dk1"/>
              </a:buClr>
              <a:buSzPts val="1100"/>
              <a:buFont typeface="Arial"/>
              <a:buNone/>
            </a:pPr>
            <a:r>
              <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pt-PT" sz="1800">
                <a:latin typeface="Arial"/>
                <a:ea typeface="Arial"/>
                <a:cs typeface="Arial"/>
                <a:sym typeface="Arial"/>
              </a:rPr>
              <a:t>2. Velocity Measurements in </a:t>
            </a:r>
            <a:r>
              <a:rPr b="1" lang="pt-PT" sz="1800">
                <a:solidFill>
                  <a:schemeClr val="accent4"/>
                </a:solidFill>
                <a:latin typeface="Arial"/>
                <a:ea typeface="Arial"/>
                <a:cs typeface="Arial"/>
                <a:sym typeface="Arial"/>
              </a:rPr>
              <a:t>Low-IF CW mode</a:t>
            </a:r>
            <a:r>
              <a:rPr b="1" lang="pt-PT" sz="1800">
                <a:latin typeface="Arial"/>
                <a:ea typeface="Arial"/>
                <a:cs typeface="Arial"/>
                <a:sym typeface="Arial"/>
              </a:rPr>
              <a:t> without Power Amplifier. (Sub-group 1)</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pt-PT" sz="1300">
                <a:latin typeface="Arial"/>
                <a:ea typeface="Arial"/>
                <a:cs typeface="Arial"/>
                <a:sym typeface="Arial"/>
              </a:rPr>
              <a:t>a. Velocity Measurements of a</a:t>
            </a:r>
            <a:r>
              <a:rPr b="1" lang="pt-PT" sz="1800">
                <a:solidFill>
                  <a:schemeClr val="accent4"/>
                </a:solidFill>
                <a:latin typeface="Arial"/>
                <a:ea typeface="Arial"/>
                <a:cs typeface="Arial"/>
                <a:sym typeface="Arial"/>
              </a:rPr>
              <a:t> single target</a:t>
            </a:r>
            <a:r>
              <a:rPr b="1" lang="pt-PT" sz="1300">
                <a:latin typeface="Arial"/>
                <a:ea typeface="Arial"/>
                <a:cs typeface="Arial"/>
                <a:sym typeface="Arial"/>
              </a:rPr>
              <a:t>. Signal processing using your Matlab code</a:t>
            </a:r>
            <a:endParaRPr b="1" sz="13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pt-PT" sz="1300">
                <a:latin typeface="Arial"/>
                <a:ea typeface="Arial"/>
                <a:cs typeface="Arial"/>
                <a:sym typeface="Arial"/>
              </a:rPr>
              <a:t>for the COTS radar: show captured data plot, velocity vs time plot (hint: take the</a:t>
            </a:r>
            <a:endParaRPr b="1" sz="13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pt-PT" sz="1300">
                <a:latin typeface="Arial"/>
                <a:ea typeface="Arial"/>
                <a:cs typeface="Arial"/>
                <a:sym typeface="Arial"/>
              </a:rPr>
              <a:t>strongest scatterer), velocity vs time spectrogram, GNU Radio schematic</a:t>
            </a:r>
            <a:endParaRPr b="1" sz="13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b="1" sz="1800">
              <a:solidFill>
                <a:schemeClr val="accent4"/>
              </a:solidFill>
              <a:latin typeface="Arial"/>
              <a:ea typeface="Arial"/>
              <a:cs typeface="Arial"/>
              <a:sym typeface="Arial"/>
            </a:endParaRPr>
          </a:p>
        </p:txBody>
      </p:sp>
      <p:pic>
        <p:nvPicPr>
          <p:cNvPr id="133" name="Google Shape;133;g368a789b285_0_5"/>
          <p:cNvPicPr preferRelativeResize="0"/>
          <p:nvPr/>
        </p:nvPicPr>
        <p:blipFill>
          <a:blip r:embed="rId3">
            <a:alphaModFix/>
          </a:blip>
          <a:stretch>
            <a:fillRect/>
          </a:stretch>
        </p:blipFill>
        <p:spPr>
          <a:xfrm>
            <a:off x="2116225" y="1577825"/>
            <a:ext cx="3903567" cy="2516100"/>
          </a:xfrm>
          <a:prstGeom prst="rect">
            <a:avLst/>
          </a:prstGeom>
          <a:noFill/>
          <a:ln>
            <a:noFill/>
          </a:ln>
        </p:spPr>
      </p:pic>
      <p:pic>
        <p:nvPicPr>
          <p:cNvPr id="134" name="Google Shape;134;g368a789b285_0_5"/>
          <p:cNvPicPr preferRelativeResize="0"/>
          <p:nvPr/>
        </p:nvPicPr>
        <p:blipFill>
          <a:blip r:embed="rId4">
            <a:alphaModFix/>
          </a:blip>
          <a:stretch>
            <a:fillRect/>
          </a:stretch>
        </p:blipFill>
        <p:spPr>
          <a:xfrm>
            <a:off x="6172197" y="1577825"/>
            <a:ext cx="3903576" cy="2516115"/>
          </a:xfrm>
          <a:prstGeom prst="rect">
            <a:avLst/>
          </a:prstGeom>
          <a:noFill/>
          <a:ln>
            <a:noFill/>
          </a:ln>
        </p:spPr>
      </p:pic>
      <p:pic>
        <p:nvPicPr>
          <p:cNvPr id="135" name="Google Shape;135;g368a789b285_0_5" title="Velocity_vs_Time_curves.png"/>
          <p:cNvPicPr preferRelativeResize="0"/>
          <p:nvPr/>
        </p:nvPicPr>
        <p:blipFill>
          <a:blip r:embed="rId5">
            <a:alphaModFix/>
          </a:blip>
          <a:stretch>
            <a:fillRect/>
          </a:stretch>
        </p:blipFill>
        <p:spPr>
          <a:xfrm>
            <a:off x="2216336" y="4081550"/>
            <a:ext cx="3703352" cy="2776456"/>
          </a:xfrm>
          <a:prstGeom prst="rect">
            <a:avLst/>
          </a:prstGeom>
          <a:noFill/>
          <a:ln>
            <a:noFill/>
          </a:ln>
        </p:spPr>
      </p:pic>
      <p:pic>
        <p:nvPicPr>
          <p:cNvPr id="136" name="Google Shape;136;g368a789b285_0_5" title="Spec_with_Velocities.png"/>
          <p:cNvPicPr preferRelativeResize="0"/>
          <p:nvPr/>
        </p:nvPicPr>
        <p:blipFill>
          <a:blip r:embed="rId6">
            <a:alphaModFix/>
          </a:blip>
          <a:stretch>
            <a:fillRect/>
          </a:stretch>
        </p:blipFill>
        <p:spPr>
          <a:xfrm>
            <a:off x="6492100" y="4093950"/>
            <a:ext cx="3263776" cy="2446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368a789b285_0_10"/>
          <p:cNvSpPr txBox="1"/>
          <p:nvPr>
            <p:ph type="title"/>
          </p:nvPr>
        </p:nvSpPr>
        <p:spPr>
          <a:xfrm>
            <a:off x="0" y="0"/>
            <a:ext cx="12192000" cy="2516100"/>
          </a:xfrm>
          <a:prstGeom prst="rect">
            <a:avLst/>
          </a:prstGeom>
          <a:noFill/>
          <a:ln>
            <a:noFill/>
          </a:ln>
        </p:spPr>
        <p:txBody>
          <a:bodyPr anchorCtr="0" anchor="ctr" bIns="45700" lIns="91425" spcFirstLastPara="1" rIns="91425" wrap="square" tIns="45700">
            <a:normAutofit/>
          </a:bodyPr>
          <a:lstStyle/>
          <a:p>
            <a:pPr indent="0" lvl="0" marL="0" rtl="0" algn="l">
              <a:lnSpc>
                <a:spcPct val="115000"/>
              </a:lnSpc>
              <a:spcBef>
                <a:spcPts val="0"/>
              </a:spcBef>
              <a:spcAft>
                <a:spcPts val="0"/>
              </a:spcAft>
              <a:buClr>
                <a:schemeClr val="dk1"/>
              </a:buClr>
              <a:buSzPts val="1100"/>
              <a:buFont typeface="Arial"/>
              <a:buNone/>
            </a:pPr>
            <a:r>
              <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pt-PT" sz="1800">
                <a:latin typeface="Arial"/>
                <a:ea typeface="Arial"/>
                <a:cs typeface="Arial"/>
                <a:sym typeface="Arial"/>
              </a:rPr>
              <a:t>2. Velocity Measurements in</a:t>
            </a:r>
            <a:r>
              <a:rPr b="1" lang="pt-PT" sz="1800">
                <a:solidFill>
                  <a:schemeClr val="accent4"/>
                </a:solidFill>
                <a:latin typeface="Arial"/>
                <a:ea typeface="Arial"/>
                <a:cs typeface="Arial"/>
                <a:sym typeface="Arial"/>
              </a:rPr>
              <a:t> Low-IF CW mode</a:t>
            </a:r>
            <a:r>
              <a:rPr b="1" lang="pt-PT" sz="1800">
                <a:latin typeface="Arial"/>
                <a:ea typeface="Arial"/>
                <a:cs typeface="Arial"/>
                <a:sym typeface="Arial"/>
              </a:rPr>
              <a:t> without Power Amplifier. (Sub-group 1)</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pt-PT" sz="1300">
                <a:latin typeface="Arial"/>
                <a:ea typeface="Arial"/>
                <a:cs typeface="Arial"/>
                <a:sym typeface="Arial"/>
              </a:rPr>
              <a:t>b. Velocity Measurements of</a:t>
            </a:r>
            <a:r>
              <a:rPr b="1" lang="pt-PT" sz="1800">
                <a:solidFill>
                  <a:schemeClr val="accent4"/>
                </a:solidFill>
                <a:latin typeface="Arial"/>
                <a:ea typeface="Arial"/>
                <a:cs typeface="Arial"/>
                <a:sym typeface="Arial"/>
              </a:rPr>
              <a:t> multiple targets</a:t>
            </a:r>
            <a:r>
              <a:rPr b="1" lang="pt-PT" sz="1300">
                <a:solidFill>
                  <a:schemeClr val="accent4"/>
                </a:solidFill>
                <a:latin typeface="Arial"/>
                <a:ea typeface="Arial"/>
                <a:cs typeface="Arial"/>
                <a:sym typeface="Arial"/>
              </a:rPr>
              <a:t>.</a:t>
            </a:r>
            <a:r>
              <a:rPr b="1" lang="pt-PT" sz="1300">
                <a:latin typeface="Arial"/>
                <a:ea typeface="Arial"/>
                <a:cs typeface="Arial"/>
                <a:sym typeface="Arial"/>
              </a:rPr>
              <a:t> Signal processing using your Matlab code</a:t>
            </a:r>
            <a:endParaRPr b="1" sz="13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pt-PT" sz="1300">
                <a:latin typeface="Arial"/>
                <a:ea typeface="Arial"/>
                <a:cs typeface="Arial"/>
                <a:sym typeface="Arial"/>
              </a:rPr>
              <a:t>for the COTS radar: show captured data plot, velocity vs time plot, velocity vs time</a:t>
            </a:r>
            <a:endParaRPr b="1" sz="13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pt-PT" sz="1300">
                <a:latin typeface="Arial"/>
                <a:ea typeface="Arial"/>
                <a:cs typeface="Arial"/>
                <a:sym typeface="Arial"/>
              </a:rPr>
              <a:t>spectrogram, GNU Radio schematic</a:t>
            </a:r>
            <a:endParaRPr b="1" sz="13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b="1" sz="1800">
              <a:solidFill>
                <a:schemeClr val="accent4"/>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b="1" sz="1800">
              <a:solidFill>
                <a:schemeClr val="accent4"/>
              </a:solidFill>
              <a:latin typeface="Arial"/>
              <a:ea typeface="Arial"/>
              <a:cs typeface="Arial"/>
              <a:sym typeface="Arial"/>
            </a:endParaRPr>
          </a:p>
        </p:txBody>
      </p:sp>
      <p:pic>
        <p:nvPicPr>
          <p:cNvPr id="142" name="Google Shape;142;g368a789b285_0_10"/>
          <p:cNvPicPr preferRelativeResize="0"/>
          <p:nvPr/>
        </p:nvPicPr>
        <p:blipFill>
          <a:blip r:embed="rId3">
            <a:alphaModFix/>
          </a:blip>
          <a:stretch>
            <a:fillRect/>
          </a:stretch>
        </p:blipFill>
        <p:spPr>
          <a:xfrm>
            <a:off x="2050350" y="1763750"/>
            <a:ext cx="3790149" cy="2443000"/>
          </a:xfrm>
          <a:prstGeom prst="rect">
            <a:avLst/>
          </a:prstGeom>
          <a:noFill/>
          <a:ln>
            <a:noFill/>
          </a:ln>
        </p:spPr>
      </p:pic>
      <p:pic>
        <p:nvPicPr>
          <p:cNvPr id="143" name="Google Shape;143;g368a789b285_0_10"/>
          <p:cNvPicPr preferRelativeResize="0"/>
          <p:nvPr/>
        </p:nvPicPr>
        <p:blipFill>
          <a:blip r:embed="rId4">
            <a:alphaModFix/>
          </a:blip>
          <a:stretch>
            <a:fillRect/>
          </a:stretch>
        </p:blipFill>
        <p:spPr>
          <a:xfrm>
            <a:off x="6351500" y="1763750"/>
            <a:ext cx="3790149" cy="2442995"/>
          </a:xfrm>
          <a:prstGeom prst="rect">
            <a:avLst/>
          </a:prstGeom>
          <a:noFill/>
          <a:ln>
            <a:noFill/>
          </a:ln>
        </p:spPr>
      </p:pic>
      <p:pic>
        <p:nvPicPr>
          <p:cNvPr id="144" name="Google Shape;144;g368a789b285_0_10"/>
          <p:cNvPicPr preferRelativeResize="0"/>
          <p:nvPr/>
        </p:nvPicPr>
        <p:blipFill>
          <a:blip r:embed="rId5">
            <a:alphaModFix/>
          </a:blip>
          <a:stretch>
            <a:fillRect/>
          </a:stretch>
        </p:blipFill>
        <p:spPr>
          <a:xfrm>
            <a:off x="2160475" y="4341900"/>
            <a:ext cx="3819822" cy="2516100"/>
          </a:xfrm>
          <a:prstGeom prst="rect">
            <a:avLst/>
          </a:prstGeom>
          <a:noFill/>
          <a:ln>
            <a:noFill/>
          </a:ln>
        </p:spPr>
      </p:pic>
      <p:pic>
        <p:nvPicPr>
          <p:cNvPr id="145" name="Google Shape;145;g368a789b285_0_10"/>
          <p:cNvPicPr preferRelativeResize="0"/>
          <p:nvPr/>
        </p:nvPicPr>
        <p:blipFill>
          <a:blip r:embed="rId6">
            <a:alphaModFix/>
          </a:blip>
          <a:stretch>
            <a:fillRect/>
          </a:stretch>
        </p:blipFill>
        <p:spPr>
          <a:xfrm>
            <a:off x="6351499" y="4359145"/>
            <a:ext cx="3767453" cy="248160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68a789b285_0_38"/>
          <p:cNvSpPr txBox="1"/>
          <p:nvPr>
            <p:ph type="title"/>
          </p:nvPr>
        </p:nvSpPr>
        <p:spPr>
          <a:xfrm>
            <a:off x="0" y="0"/>
            <a:ext cx="12192000" cy="2516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15000"/>
              </a:lnSpc>
              <a:spcBef>
                <a:spcPts val="0"/>
              </a:spcBef>
              <a:spcAft>
                <a:spcPts val="0"/>
              </a:spcAft>
              <a:buClr>
                <a:schemeClr val="dk1"/>
              </a:buClr>
              <a:buSzPct val="61111"/>
              <a:buFont typeface="Arial"/>
              <a:buNone/>
            </a:pPr>
            <a:r>
              <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ct val="61111"/>
              <a:buFont typeface="Arial"/>
              <a:buNone/>
            </a:pPr>
            <a:r>
              <a:rPr b="1" lang="pt-PT" sz="1800">
                <a:latin typeface="Arial"/>
                <a:ea typeface="Arial"/>
                <a:cs typeface="Arial"/>
                <a:sym typeface="Arial"/>
              </a:rPr>
              <a:t>3. Velocity direction detection for a single and multiple targets in the </a:t>
            </a:r>
            <a:r>
              <a:rPr b="1" lang="pt-PT" sz="1800">
                <a:solidFill>
                  <a:schemeClr val="accent4"/>
                </a:solidFill>
                <a:latin typeface="Arial"/>
                <a:ea typeface="Arial"/>
                <a:cs typeface="Arial"/>
                <a:sym typeface="Arial"/>
              </a:rPr>
              <a:t>CW mode using IQ</a:t>
            </a:r>
            <a:endParaRPr b="1" sz="1800">
              <a:solidFill>
                <a:schemeClr val="accent4"/>
              </a:solidFill>
              <a:latin typeface="Arial"/>
              <a:ea typeface="Arial"/>
              <a:cs typeface="Arial"/>
              <a:sym typeface="Arial"/>
            </a:endParaRPr>
          </a:p>
          <a:p>
            <a:pPr indent="0" lvl="0" marL="0" rtl="0" algn="l">
              <a:lnSpc>
                <a:spcPct val="115000"/>
              </a:lnSpc>
              <a:spcBef>
                <a:spcPts val="0"/>
              </a:spcBef>
              <a:spcAft>
                <a:spcPts val="0"/>
              </a:spcAft>
              <a:buClr>
                <a:schemeClr val="dk1"/>
              </a:buClr>
              <a:buSzPct val="61111"/>
              <a:buFont typeface="Arial"/>
              <a:buNone/>
            </a:pPr>
            <a:r>
              <a:rPr b="1" lang="pt-PT" sz="1800">
                <a:solidFill>
                  <a:schemeClr val="accent4"/>
                </a:solidFill>
                <a:latin typeface="Arial"/>
                <a:ea typeface="Arial"/>
                <a:cs typeface="Arial"/>
                <a:sym typeface="Arial"/>
              </a:rPr>
              <a:t>demodulation</a:t>
            </a:r>
            <a:r>
              <a:rPr b="1" lang="pt-PT" sz="1800">
                <a:latin typeface="Arial"/>
                <a:ea typeface="Arial"/>
                <a:cs typeface="Arial"/>
                <a:sym typeface="Arial"/>
              </a:rPr>
              <a:t> in SDR without Power Amplifier. (Sub-group 1)</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ct val="61111"/>
              <a:buFont typeface="Arial"/>
              <a:buNone/>
            </a:pPr>
            <a:r>
              <a:rPr b="1" lang="pt-PT" sz="1800">
                <a:latin typeface="Arial"/>
                <a:ea typeface="Arial"/>
                <a:cs typeface="Arial"/>
                <a:sym typeface="Arial"/>
              </a:rPr>
              <a:t>a. Velocity direction measurements of </a:t>
            </a:r>
            <a:r>
              <a:rPr b="1" lang="pt-PT" sz="1800">
                <a:solidFill>
                  <a:schemeClr val="accent4"/>
                </a:solidFill>
                <a:latin typeface="Arial"/>
                <a:ea typeface="Arial"/>
                <a:cs typeface="Arial"/>
                <a:sym typeface="Arial"/>
              </a:rPr>
              <a:t>a single target.</a:t>
            </a:r>
            <a:r>
              <a:rPr b="1" lang="pt-PT" sz="1800">
                <a:latin typeface="Arial"/>
                <a:ea typeface="Arial"/>
                <a:cs typeface="Arial"/>
                <a:sym typeface="Arial"/>
              </a:rPr>
              <a:t> Signal processing using your Matlab</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ct val="61111"/>
              <a:buFont typeface="Arial"/>
              <a:buNone/>
            </a:pPr>
            <a:r>
              <a:rPr b="1" lang="pt-PT" sz="1800">
                <a:latin typeface="Arial"/>
                <a:ea typeface="Arial"/>
                <a:cs typeface="Arial"/>
                <a:sym typeface="Arial"/>
              </a:rPr>
              <a:t>code for the COTS part: show captured data plot, velocity vs time plot (hint: take the</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ct val="61111"/>
              <a:buFont typeface="Arial"/>
              <a:buNone/>
            </a:pPr>
            <a:r>
              <a:rPr b="1" lang="pt-PT" sz="1800">
                <a:latin typeface="Arial"/>
                <a:ea typeface="Arial"/>
                <a:cs typeface="Arial"/>
                <a:sym typeface="Arial"/>
              </a:rPr>
              <a:t>strongest scatterer), velocity vs time spectrogram, GNU Radio schematic</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ct val="61111"/>
              <a:buFont typeface="Arial"/>
              <a:buNone/>
            </a:pPr>
            <a:r>
              <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ct val="61111"/>
              <a:buFont typeface="Arial"/>
              <a:buNone/>
            </a:pPr>
            <a:r>
              <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ct val="61111"/>
              <a:buFont typeface="Arial"/>
              <a:buNone/>
            </a:pPr>
            <a:r>
              <a:t/>
            </a:r>
            <a:endParaRPr b="1" sz="1800">
              <a:solidFill>
                <a:schemeClr val="accent4"/>
              </a:solidFill>
              <a:latin typeface="Arial"/>
              <a:ea typeface="Arial"/>
              <a:cs typeface="Arial"/>
              <a:sym typeface="Arial"/>
            </a:endParaRPr>
          </a:p>
        </p:txBody>
      </p:sp>
      <p:pic>
        <p:nvPicPr>
          <p:cNvPr id="151" name="Google Shape;151;g368a789b285_0_38"/>
          <p:cNvPicPr preferRelativeResize="0"/>
          <p:nvPr/>
        </p:nvPicPr>
        <p:blipFill>
          <a:blip r:embed="rId3">
            <a:alphaModFix/>
          </a:blip>
          <a:stretch>
            <a:fillRect/>
          </a:stretch>
        </p:blipFill>
        <p:spPr>
          <a:xfrm>
            <a:off x="3364850" y="1876650"/>
            <a:ext cx="2314349" cy="2296851"/>
          </a:xfrm>
          <a:prstGeom prst="rect">
            <a:avLst/>
          </a:prstGeom>
          <a:noFill/>
          <a:ln>
            <a:noFill/>
          </a:ln>
        </p:spPr>
      </p:pic>
      <p:pic>
        <p:nvPicPr>
          <p:cNvPr id="152" name="Google Shape;152;g368a789b285_0_38"/>
          <p:cNvPicPr preferRelativeResize="0"/>
          <p:nvPr/>
        </p:nvPicPr>
        <p:blipFill>
          <a:blip r:embed="rId4">
            <a:alphaModFix/>
          </a:blip>
          <a:stretch>
            <a:fillRect/>
          </a:stretch>
        </p:blipFill>
        <p:spPr>
          <a:xfrm>
            <a:off x="6341425" y="1899788"/>
            <a:ext cx="2267700" cy="2250575"/>
          </a:xfrm>
          <a:prstGeom prst="rect">
            <a:avLst/>
          </a:prstGeom>
          <a:noFill/>
          <a:ln>
            <a:noFill/>
          </a:ln>
        </p:spPr>
      </p:pic>
      <p:pic>
        <p:nvPicPr>
          <p:cNvPr id="153" name="Google Shape;153;g368a789b285_0_38" title="Spec_with_Velocities.png"/>
          <p:cNvPicPr preferRelativeResize="0"/>
          <p:nvPr/>
        </p:nvPicPr>
        <p:blipFill>
          <a:blip r:embed="rId5">
            <a:alphaModFix/>
          </a:blip>
          <a:stretch>
            <a:fillRect/>
          </a:stretch>
        </p:blipFill>
        <p:spPr>
          <a:xfrm>
            <a:off x="6069650" y="4202625"/>
            <a:ext cx="3278376" cy="2457850"/>
          </a:xfrm>
          <a:prstGeom prst="rect">
            <a:avLst/>
          </a:prstGeom>
          <a:noFill/>
          <a:ln>
            <a:noFill/>
          </a:ln>
        </p:spPr>
      </p:pic>
      <p:pic>
        <p:nvPicPr>
          <p:cNvPr id="154" name="Google Shape;154;g368a789b285_0_38" title="Velocity_vs_Time_curves.png"/>
          <p:cNvPicPr preferRelativeResize="0"/>
          <p:nvPr/>
        </p:nvPicPr>
        <p:blipFill>
          <a:blip r:embed="rId6">
            <a:alphaModFix/>
          </a:blip>
          <a:stretch>
            <a:fillRect/>
          </a:stretch>
        </p:blipFill>
        <p:spPr>
          <a:xfrm>
            <a:off x="2843975" y="4173500"/>
            <a:ext cx="3356095" cy="25160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68a789b285_0_47"/>
          <p:cNvSpPr txBox="1"/>
          <p:nvPr>
            <p:ph type="title"/>
          </p:nvPr>
        </p:nvSpPr>
        <p:spPr>
          <a:xfrm>
            <a:off x="0" y="0"/>
            <a:ext cx="12192000" cy="2516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15000"/>
              </a:lnSpc>
              <a:spcBef>
                <a:spcPts val="0"/>
              </a:spcBef>
              <a:spcAft>
                <a:spcPts val="0"/>
              </a:spcAft>
              <a:buClr>
                <a:schemeClr val="dk1"/>
              </a:buClr>
              <a:buSzPct val="61111"/>
              <a:buFont typeface="Arial"/>
              <a:buNone/>
            </a:pPr>
            <a:r>
              <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ct val="61111"/>
              <a:buFont typeface="Arial"/>
              <a:buNone/>
            </a:pPr>
            <a:r>
              <a:rPr b="1" lang="pt-PT" sz="1800">
                <a:latin typeface="Arial"/>
                <a:ea typeface="Arial"/>
                <a:cs typeface="Arial"/>
                <a:sym typeface="Arial"/>
              </a:rPr>
              <a:t>3. Velocity direction detection for a single and multiple targets in the </a:t>
            </a:r>
            <a:r>
              <a:rPr b="1" lang="pt-PT" sz="1800">
                <a:solidFill>
                  <a:schemeClr val="accent4"/>
                </a:solidFill>
                <a:latin typeface="Arial"/>
                <a:ea typeface="Arial"/>
                <a:cs typeface="Arial"/>
                <a:sym typeface="Arial"/>
              </a:rPr>
              <a:t>CW mode using IQ</a:t>
            </a:r>
            <a:endParaRPr b="1" sz="1800">
              <a:solidFill>
                <a:schemeClr val="accent4"/>
              </a:solidFill>
              <a:latin typeface="Arial"/>
              <a:ea typeface="Arial"/>
              <a:cs typeface="Arial"/>
              <a:sym typeface="Arial"/>
            </a:endParaRPr>
          </a:p>
          <a:p>
            <a:pPr indent="0" lvl="0" marL="0" rtl="0" algn="l">
              <a:lnSpc>
                <a:spcPct val="115000"/>
              </a:lnSpc>
              <a:spcBef>
                <a:spcPts val="0"/>
              </a:spcBef>
              <a:spcAft>
                <a:spcPts val="0"/>
              </a:spcAft>
              <a:buClr>
                <a:schemeClr val="dk1"/>
              </a:buClr>
              <a:buSzPct val="61111"/>
              <a:buFont typeface="Arial"/>
              <a:buNone/>
            </a:pPr>
            <a:r>
              <a:rPr b="1" lang="pt-PT" sz="1800">
                <a:solidFill>
                  <a:schemeClr val="accent4"/>
                </a:solidFill>
                <a:latin typeface="Arial"/>
                <a:ea typeface="Arial"/>
                <a:cs typeface="Arial"/>
                <a:sym typeface="Arial"/>
              </a:rPr>
              <a:t>demodulation</a:t>
            </a:r>
            <a:r>
              <a:rPr b="1" lang="pt-PT" sz="1800">
                <a:latin typeface="Arial"/>
                <a:ea typeface="Arial"/>
                <a:cs typeface="Arial"/>
                <a:sym typeface="Arial"/>
              </a:rPr>
              <a:t> in SDR without Power Amplifier. (Sub-group 1)</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ct val="61111"/>
              <a:buFont typeface="Arial"/>
              <a:buNone/>
            </a:pPr>
            <a:r>
              <a:rPr b="1" lang="pt-PT" sz="1800">
                <a:latin typeface="Arial"/>
                <a:ea typeface="Arial"/>
                <a:cs typeface="Arial"/>
                <a:sym typeface="Arial"/>
              </a:rPr>
              <a:t>b. Velocity direction measurements of </a:t>
            </a:r>
            <a:r>
              <a:rPr b="1" lang="pt-PT" sz="1800">
                <a:solidFill>
                  <a:schemeClr val="accent4"/>
                </a:solidFill>
                <a:latin typeface="Arial"/>
                <a:ea typeface="Arial"/>
                <a:cs typeface="Arial"/>
                <a:sym typeface="Arial"/>
              </a:rPr>
              <a:t>multiple targets</a:t>
            </a:r>
            <a:r>
              <a:rPr b="1" lang="pt-PT" sz="1800">
                <a:latin typeface="Arial"/>
                <a:ea typeface="Arial"/>
                <a:cs typeface="Arial"/>
                <a:sym typeface="Arial"/>
              </a:rPr>
              <a:t>. Signal processing using your Matlab</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ct val="61111"/>
              <a:buFont typeface="Arial"/>
              <a:buNone/>
            </a:pPr>
            <a:r>
              <a:rPr b="1" lang="pt-PT" sz="1800">
                <a:latin typeface="Arial"/>
                <a:ea typeface="Arial"/>
                <a:cs typeface="Arial"/>
                <a:sym typeface="Arial"/>
              </a:rPr>
              <a:t>code for the COTS part: show captured data plot, velocity vs time plot, velocity vs time</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ct val="61111"/>
              <a:buFont typeface="Arial"/>
              <a:buNone/>
            </a:pPr>
            <a:r>
              <a:rPr b="1" lang="pt-PT" sz="1800">
                <a:latin typeface="Arial"/>
                <a:ea typeface="Arial"/>
                <a:cs typeface="Arial"/>
                <a:sym typeface="Arial"/>
              </a:rPr>
              <a:t>spectrogram, GNU Radio schematic</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ct val="61111"/>
              <a:buFont typeface="Arial"/>
              <a:buNone/>
            </a:pPr>
            <a:r>
              <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ct val="61111"/>
              <a:buFont typeface="Arial"/>
              <a:buNone/>
            </a:pPr>
            <a:r>
              <a:t/>
            </a:r>
            <a:endParaRPr b="1" sz="1800">
              <a:solidFill>
                <a:schemeClr val="accent4"/>
              </a:solidFill>
              <a:latin typeface="Arial"/>
              <a:ea typeface="Arial"/>
              <a:cs typeface="Arial"/>
              <a:sym typeface="Arial"/>
            </a:endParaRPr>
          </a:p>
        </p:txBody>
      </p:sp>
      <p:pic>
        <p:nvPicPr>
          <p:cNvPr id="160" name="Google Shape;160;g368a789b285_0_47"/>
          <p:cNvPicPr preferRelativeResize="0"/>
          <p:nvPr/>
        </p:nvPicPr>
        <p:blipFill>
          <a:blip r:embed="rId3">
            <a:alphaModFix/>
          </a:blip>
          <a:stretch>
            <a:fillRect/>
          </a:stretch>
        </p:blipFill>
        <p:spPr>
          <a:xfrm>
            <a:off x="3382163" y="2028148"/>
            <a:ext cx="2321171" cy="2384652"/>
          </a:xfrm>
          <a:prstGeom prst="rect">
            <a:avLst/>
          </a:prstGeom>
          <a:noFill/>
          <a:ln>
            <a:noFill/>
          </a:ln>
        </p:spPr>
      </p:pic>
      <p:pic>
        <p:nvPicPr>
          <p:cNvPr id="161" name="Google Shape;161;g368a789b285_0_47"/>
          <p:cNvPicPr preferRelativeResize="0"/>
          <p:nvPr/>
        </p:nvPicPr>
        <p:blipFill>
          <a:blip r:embed="rId4">
            <a:alphaModFix/>
          </a:blip>
          <a:stretch>
            <a:fillRect/>
          </a:stretch>
        </p:blipFill>
        <p:spPr>
          <a:xfrm>
            <a:off x="6510673" y="1976050"/>
            <a:ext cx="2237222" cy="2298402"/>
          </a:xfrm>
          <a:prstGeom prst="rect">
            <a:avLst/>
          </a:prstGeom>
          <a:noFill/>
          <a:ln>
            <a:noFill/>
          </a:ln>
        </p:spPr>
      </p:pic>
      <p:pic>
        <p:nvPicPr>
          <p:cNvPr id="162" name="Google Shape;162;g368a789b285_0_47"/>
          <p:cNvPicPr preferRelativeResize="0"/>
          <p:nvPr/>
        </p:nvPicPr>
        <p:blipFill>
          <a:blip r:embed="rId5">
            <a:alphaModFix/>
          </a:blip>
          <a:stretch>
            <a:fillRect/>
          </a:stretch>
        </p:blipFill>
        <p:spPr>
          <a:xfrm>
            <a:off x="3424142" y="4559623"/>
            <a:ext cx="2237222" cy="2298377"/>
          </a:xfrm>
          <a:prstGeom prst="rect">
            <a:avLst/>
          </a:prstGeom>
          <a:noFill/>
          <a:ln>
            <a:noFill/>
          </a:ln>
        </p:spPr>
      </p:pic>
      <p:pic>
        <p:nvPicPr>
          <p:cNvPr id="163" name="Google Shape;163;g368a789b285_0_47"/>
          <p:cNvPicPr preferRelativeResize="0"/>
          <p:nvPr/>
        </p:nvPicPr>
        <p:blipFill>
          <a:blip r:embed="rId6">
            <a:alphaModFix/>
          </a:blip>
          <a:stretch>
            <a:fillRect/>
          </a:stretch>
        </p:blipFill>
        <p:spPr>
          <a:xfrm>
            <a:off x="6510673" y="4525997"/>
            <a:ext cx="2299154" cy="228176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68a789b285_0_61"/>
          <p:cNvSpPr txBox="1"/>
          <p:nvPr>
            <p:ph type="title"/>
          </p:nvPr>
        </p:nvSpPr>
        <p:spPr>
          <a:xfrm>
            <a:off x="0" y="0"/>
            <a:ext cx="12192000" cy="2516100"/>
          </a:xfrm>
          <a:prstGeom prst="rect">
            <a:avLst/>
          </a:prstGeom>
          <a:noFill/>
          <a:ln>
            <a:noFill/>
          </a:ln>
        </p:spPr>
        <p:txBody>
          <a:bodyPr anchorCtr="0" anchor="ctr" bIns="45700" lIns="91425" spcFirstLastPara="1" rIns="91425" wrap="square" tIns="45700">
            <a:normAutofit/>
          </a:bodyPr>
          <a:lstStyle/>
          <a:p>
            <a:pPr indent="0" lvl="0" marL="0" rtl="0" algn="l">
              <a:lnSpc>
                <a:spcPct val="115000"/>
              </a:lnSpc>
              <a:spcBef>
                <a:spcPts val="0"/>
              </a:spcBef>
              <a:spcAft>
                <a:spcPts val="0"/>
              </a:spcAft>
              <a:buClr>
                <a:schemeClr val="dk1"/>
              </a:buClr>
              <a:buSzPts val="1100"/>
              <a:buFont typeface="Arial"/>
              <a:buNone/>
            </a:pPr>
            <a:r>
              <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pt-PT" sz="1800">
                <a:latin typeface="Arial"/>
                <a:ea typeface="Arial"/>
                <a:cs typeface="Arial"/>
                <a:sym typeface="Arial"/>
              </a:rPr>
              <a:t>4. Velocity direction detection for a single and multiple targets in the </a:t>
            </a:r>
            <a:r>
              <a:rPr b="1" lang="pt-PT" sz="1800">
                <a:solidFill>
                  <a:schemeClr val="accent4"/>
                </a:solidFill>
                <a:latin typeface="Arial"/>
                <a:ea typeface="Arial"/>
                <a:cs typeface="Arial"/>
                <a:sym typeface="Arial"/>
              </a:rPr>
              <a:t>Low-IF CW mode</a:t>
            </a:r>
            <a:endParaRPr b="1" sz="1800">
              <a:solidFill>
                <a:schemeClr val="accent4"/>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pt-PT" sz="1800">
                <a:solidFill>
                  <a:schemeClr val="accent4"/>
                </a:solidFill>
                <a:latin typeface="Arial"/>
                <a:ea typeface="Arial"/>
                <a:cs typeface="Arial"/>
                <a:sym typeface="Arial"/>
              </a:rPr>
              <a:t>using IQ demodulation</a:t>
            </a:r>
            <a:r>
              <a:rPr b="1" lang="pt-PT" sz="1800">
                <a:latin typeface="Arial"/>
                <a:ea typeface="Arial"/>
                <a:cs typeface="Arial"/>
                <a:sym typeface="Arial"/>
              </a:rPr>
              <a:t> in SDR without Power Amplifier. (Sub-group 2)</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pt-PT" sz="1800">
                <a:latin typeface="Arial"/>
                <a:ea typeface="Arial"/>
                <a:cs typeface="Arial"/>
                <a:sym typeface="Arial"/>
              </a:rPr>
              <a:t>a. Velocity direction measurements of</a:t>
            </a:r>
            <a:r>
              <a:rPr b="1" lang="pt-PT" sz="1800">
                <a:solidFill>
                  <a:schemeClr val="accent4"/>
                </a:solidFill>
                <a:latin typeface="Arial"/>
                <a:ea typeface="Arial"/>
                <a:cs typeface="Arial"/>
                <a:sym typeface="Arial"/>
              </a:rPr>
              <a:t> a single target</a:t>
            </a:r>
            <a:r>
              <a:rPr b="1" lang="pt-PT" sz="1800">
                <a:latin typeface="Arial"/>
                <a:ea typeface="Arial"/>
                <a:cs typeface="Arial"/>
                <a:sym typeface="Arial"/>
              </a:rPr>
              <a:t>. Signal processing using your Matlab</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pt-PT" sz="1800">
                <a:latin typeface="Arial"/>
                <a:ea typeface="Arial"/>
                <a:cs typeface="Arial"/>
                <a:sym typeface="Arial"/>
              </a:rPr>
              <a:t>code for the COTS part: show captured data plot, velocity vs time plot (hint: take the</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pt-PT" sz="1800">
                <a:latin typeface="Arial"/>
                <a:ea typeface="Arial"/>
                <a:cs typeface="Arial"/>
                <a:sym typeface="Arial"/>
              </a:rPr>
              <a:t>strongest scatterer), velocity vs time spectrogram, GNU Radio schematic</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b="1" sz="1800">
              <a:solidFill>
                <a:schemeClr val="accent4"/>
              </a:solidFill>
              <a:latin typeface="Arial"/>
              <a:ea typeface="Arial"/>
              <a:cs typeface="Arial"/>
              <a:sym typeface="Arial"/>
            </a:endParaRPr>
          </a:p>
        </p:txBody>
      </p:sp>
      <p:pic>
        <p:nvPicPr>
          <p:cNvPr id="169" name="Google Shape;169;g368a789b285_0_61"/>
          <p:cNvPicPr preferRelativeResize="0"/>
          <p:nvPr/>
        </p:nvPicPr>
        <p:blipFill>
          <a:blip r:embed="rId3">
            <a:alphaModFix/>
          </a:blip>
          <a:stretch>
            <a:fillRect/>
          </a:stretch>
        </p:blipFill>
        <p:spPr>
          <a:xfrm>
            <a:off x="3457163" y="2082900"/>
            <a:ext cx="2281825" cy="2264574"/>
          </a:xfrm>
          <a:prstGeom prst="rect">
            <a:avLst/>
          </a:prstGeom>
          <a:noFill/>
          <a:ln>
            <a:noFill/>
          </a:ln>
        </p:spPr>
      </p:pic>
      <p:pic>
        <p:nvPicPr>
          <p:cNvPr id="170" name="Google Shape;170;g368a789b285_0_61"/>
          <p:cNvPicPr preferRelativeResize="0"/>
          <p:nvPr/>
        </p:nvPicPr>
        <p:blipFill>
          <a:blip r:embed="rId4">
            <a:alphaModFix/>
          </a:blip>
          <a:stretch>
            <a:fillRect/>
          </a:stretch>
        </p:blipFill>
        <p:spPr>
          <a:xfrm>
            <a:off x="6302687" y="2082900"/>
            <a:ext cx="2281825" cy="2264576"/>
          </a:xfrm>
          <a:prstGeom prst="rect">
            <a:avLst/>
          </a:prstGeom>
          <a:noFill/>
          <a:ln>
            <a:noFill/>
          </a:ln>
        </p:spPr>
      </p:pic>
      <p:pic>
        <p:nvPicPr>
          <p:cNvPr id="171" name="Google Shape;171;g368a789b285_0_61" title="Velocity_vs_Time_curves.png"/>
          <p:cNvPicPr preferRelativeResize="0"/>
          <p:nvPr/>
        </p:nvPicPr>
        <p:blipFill>
          <a:blip r:embed="rId5">
            <a:alphaModFix/>
          </a:blip>
          <a:stretch>
            <a:fillRect/>
          </a:stretch>
        </p:blipFill>
        <p:spPr>
          <a:xfrm>
            <a:off x="3174112" y="4444775"/>
            <a:ext cx="2945950" cy="2208599"/>
          </a:xfrm>
          <a:prstGeom prst="rect">
            <a:avLst/>
          </a:prstGeom>
          <a:noFill/>
          <a:ln>
            <a:noFill/>
          </a:ln>
        </p:spPr>
      </p:pic>
      <p:pic>
        <p:nvPicPr>
          <p:cNvPr id="172" name="Google Shape;172;g368a789b285_0_61" title="Spec_with_Velocities.png"/>
          <p:cNvPicPr preferRelativeResize="0"/>
          <p:nvPr/>
        </p:nvPicPr>
        <p:blipFill>
          <a:blip r:embed="rId6">
            <a:alphaModFix/>
          </a:blip>
          <a:stretch>
            <a:fillRect/>
          </a:stretch>
        </p:blipFill>
        <p:spPr>
          <a:xfrm>
            <a:off x="5997263" y="4444775"/>
            <a:ext cx="3020625" cy="22645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368a789b285_0_70"/>
          <p:cNvSpPr txBox="1"/>
          <p:nvPr>
            <p:ph type="title"/>
          </p:nvPr>
        </p:nvSpPr>
        <p:spPr>
          <a:xfrm>
            <a:off x="0" y="0"/>
            <a:ext cx="12192000" cy="2516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15000"/>
              </a:lnSpc>
              <a:spcBef>
                <a:spcPts val="0"/>
              </a:spcBef>
              <a:spcAft>
                <a:spcPts val="0"/>
              </a:spcAft>
              <a:buClr>
                <a:schemeClr val="dk1"/>
              </a:buClr>
              <a:buSzPct val="61111"/>
              <a:buFont typeface="Arial"/>
              <a:buNone/>
            </a:pPr>
            <a:r>
              <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ct val="61111"/>
              <a:buFont typeface="Arial"/>
              <a:buNone/>
            </a:pPr>
            <a:r>
              <a:rPr b="1" lang="pt-PT" sz="1800">
                <a:latin typeface="Arial"/>
                <a:ea typeface="Arial"/>
                <a:cs typeface="Arial"/>
                <a:sym typeface="Arial"/>
              </a:rPr>
              <a:t>4. Velocity direction detection for a single and multiple targets in the </a:t>
            </a:r>
            <a:r>
              <a:rPr b="1" lang="pt-PT" sz="1800">
                <a:solidFill>
                  <a:schemeClr val="accent4"/>
                </a:solidFill>
                <a:latin typeface="Arial"/>
                <a:ea typeface="Arial"/>
                <a:cs typeface="Arial"/>
                <a:sym typeface="Arial"/>
              </a:rPr>
              <a:t>Low-IF CW mode</a:t>
            </a:r>
            <a:endParaRPr b="1" sz="1800">
              <a:solidFill>
                <a:schemeClr val="accent4"/>
              </a:solidFill>
              <a:latin typeface="Arial"/>
              <a:ea typeface="Arial"/>
              <a:cs typeface="Arial"/>
              <a:sym typeface="Arial"/>
            </a:endParaRPr>
          </a:p>
          <a:p>
            <a:pPr indent="0" lvl="0" marL="0" rtl="0" algn="l">
              <a:lnSpc>
                <a:spcPct val="115000"/>
              </a:lnSpc>
              <a:spcBef>
                <a:spcPts val="0"/>
              </a:spcBef>
              <a:spcAft>
                <a:spcPts val="0"/>
              </a:spcAft>
              <a:buClr>
                <a:schemeClr val="dk1"/>
              </a:buClr>
              <a:buSzPct val="61111"/>
              <a:buFont typeface="Arial"/>
              <a:buNone/>
            </a:pPr>
            <a:r>
              <a:rPr b="1" lang="pt-PT" sz="1800">
                <a:solidFill>
                  <a:schemeClr val="accent4"/>
                </a:solidFill>
                <a:latin typeface="Arial"/>
                <a:ea typeface="Arial"/>
                <a:cs typeface="Arial"/>
                <a:sym typeface="Arial"/>
              </a:rPr>
              <a:t>using IQ demodulation</a:t>
            </a:r>
            <a:r>
              <a:rPr b="1" lang="pt-PT" sz="1800">
                <a:latin typeface="Arial"/>
                <a:ea typeface="Arial"/>
                <a:cs typeface="Arial"/>
                <a:sym typeface="Arial"/>
              </a:rPr>
              <a:t> in SDR without Power Amplifier. (Sub-group 2)</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ct val="61111"/>
              <a:buFont typeface="Arial"/>
              <a:buNone/>
            </a:pPr>
            <a:r>
              <a:rPr b="1" lang="pt-PT" sz="1800">
                <a:latin typeface="Arial"/>
                <a:ea typeface="Arial"/>
                <a:cs typeface="Arial"/>
                <a:sym typeface="Arial"/>
              </a:rPr>
              <a:t>b. Velocity direction measurements of </a:t>
            </a:r>
            <a:r>
              <a:rPr b="1" lang="pt-PT" sz="1800">
                <a:solidFill>
                  <a:schemeClr val="accent4"/>
                </a:solidFill>
                <a:latin typeface="Arial"/>
                <a:ea typeface="Arial"/>
                <a:cs typeface="Arial"/>
                <a:sym typeface="Arial"/>
              </a:rPr>
              <a:t>multiple targets.</a:t>
            </a:r>
            <a:r>
              <a:rPr b="1" lang="pt-PT" sz="1800">
                <a:latin typeface="Arial"/>
                <a:ea typeface="Arial"/>
                <a:cs typeface="Arial"/>
                <a:sym typeface="Arial"/>
              </a:rPr>
              <a:t> Signal processing using your Matlab</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ct val="61111"/>
              <a:buFont typeface="Arial"/>
              <a:buNone/>
            </a:pPr>
            <a:r>
              <a:rPr b="1" lang="pt-PT" sz="1800">
                <a:latin typeface="Arial"/>
                <a:ea typeface="Arial"/>
                <a:cs typeface="Arial"/>
                <a:sym typeface="Arial"/>
              </a:rPr>
              <a:t>code for the COTS part: show captured data plot, velocity vs time plot, velocity vs time</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ct val="61111"/>
              <a:buFont typeface="Arial"/>
              <a:buNone/>
            </a:pPr>
            <a:r>
              <a:rPr b="1" lang="pt-PT" sz="1800">
                <a:latin typeface="Arial"/>
                <a:ea typeface="Arial"/>
                <a:cs typeface="Arial"/>
                <a:sym typeface="Arial"/>
              </a:rPr>
              <a:t>spectrogram, GNU Radio schematic</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ct val="61111"/>
              <a:buFont typeface="Arial"/>
              <a:buNone/>
            </a:pPr>
            <a:r>
              <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ct val="61111"/>
              <a:buFont typeface="Arial"/>
              <a:buNone/>
            </a:pPr>
            <a:r>
              <a:t/>
            </a:r>
            <a:endParaRPr b="1" sz="1800">
              <a:latin typeface="Arial"/>
              <a:ea typeface="Arial"/>
              <a:cs typeface="Arial"/>
              <a:sym typeface="Arial"/>
            </a:endParaRPr>
          </a:p>
          <a:p>
            <a:pPr indent="0" lvl="0" marL="0" rtl="0" algn="l">
              <a:lnSpc>
                <a:spcPct val="115000"/>
              </a:lnSpc>
              <a:spcBef>
                <a:spcPts val="0"/>
              </a:spcBef>
              <a:spcAft>
                <a:spcPts val="0"/>
              </a:spcAft>
              <a:buClr>
                <a:schemeClr val="dk1"/>
              </a:buClr>
              <a:buSzPct val="61111"/>
              <a:buFont typeface="Arial"/>
              <a:buNone/>
            </a:pPr>
            <a:r>
              <a:t/>
            </a:r>
            <a:endParaRPr b="1" sz="1800">
              <a:solidFill>
                <a:schemeClr val="accent4"/>
              </a:solidFill>
              <a:latin typeface="Arial"/>
              <a:ea typeface="Arial"/>
              <a:cs typeface="Arial"/>
              <a:sym typeface="Arial"/>
            </a:endParaRPr>
          </a:p>
        </p:txBody>
      </p:sp>
      <p:pic>
        <p:nvPicPr>
          <p:cNvPr id="178" name="Google Shape;178;g368a789b285_0_70"/>
          <p:cNvPicPr preferRelativeResize="0"/>
          <p:nvPr/>
        </p:nvPicPr>
        <p:blipFill>
          <a:blip r:embed="rId3">
            <a:alphaModFix/>
          </a:blip>
          <a:stretch>
            <a:fillRect/>
          </a:stretch>
        </p:blipFill>
        <p:spPr>
          <a:xfrm>
            <a:off x="3580988" y="1822500"/>
            <a:ext cx="2325150" cy="2307575"/>
          </a:xfrm>
          <a:prstGeom prst="rect">
            <a:avLst/>
          </a:prstGeom>
          <a:noFill/>
          <a:ln>
            <a:noFill/>
          </a:ln>
        </p:spPr>
      </p:pic>
      <p:pic>
        <p:nvPicPr>
          <p:cNvPr id="179" name="Google Shape;179;g368a789b285_0_70"/>
          <p:cNvPicPr preferRelativeResize="0"/>
          <p:nvPr/>
        </p:nvPicPr>
        <p:blipFill>
          <a:blip r:embed="rId4">
            <a:alphaModFix/>
          </a:blip>
          <a:stretch>
            <a:fillRect/>
          </a:stretch>
        </p:blipFill>
        <p:spPr>
          <a:xfrm>
            <a:off x="6285862" y="1822501"/>
            <a:ext cx="2325150" cy="2307573"/>
          </a:xfrm>
          <a:prstGeom prst="rect">
            <a:avLst/>
          </a:prstGeom>
          <a:noFill/>
          <a:ln>
            <a:noFill/>
          </a:ln>
        </p:spPr>
      </p:pic>
      <p:pic>
        <p:nvPicPr>
          <p:cNvPr id="180" name="Google Shape;180;g368a789b285_0_70"/>
          <p:cNvPicPr preferRelativeResize="0"/>
          <p:nvPr/>
        </p:nvPicPr>
        <p:blipFill>
          <a:blip r:embed="rId5">
            <a:alphaModFix/>
          </a:blip>
          <a:stretch>
            <a:fillRect/>
          </a:stretch>
        </p:blipFill>
        <p:spPr>
          <a:xfrm>
            <a:off x="3580987" y="4376950"/>
            <a:ext cx="2325150" cy="2307573"/>
          </a:xfrm>
          <a:prstGeom prst="rect">
            <a:avLst/>
          </a:prstGeom>
          <a:noFill/>
          <a:ln>
            <a:noFill/>
          </a:ln>
        </p:spPr>
      </p:pic>
      <p:pic>
        <p:nvPicPr>
          <p:cNvPr id="181" name="Google Shape;181;g368a789b285_0_70"/>
          <p:cNvPicPr preferRelativeResize="0"/>
          <p:nvPr/>
        </p:nvPicPr>
        <p:blipFill>
          <a:blip r:embed="rId6">
            <a:alphaModFix/>
          </a:blip>
          <a:stretch>
            <a:fillRect/>
          </a:stretch>
        </p:blipFill>
        <p:spPr>
          <a:xfrm>
            <a:off x="6285857" y="4376951"/>
            <a:ext cx="2325150" cy="230757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5" name="Shape 185"/>
        <p:cNvGrpSpPr/>
        <p:nvPr/>
      </p:nvGrpSpPr>
      <p:grpSpPr>
        <a:xfrm>
          <a:off x="0" y="0"/>
          <a:ext cx="0" cy="0"/>
          <a:chOff x="0" y="0"/>
          <a:chExt cx="0" cy="0"/>
        </a:xfrm>
      </p:grpSpPr>
      <p:sp>
        <p:nvSpPr>
          <p:cNvPr id="186" name="Google Shape;186;p27"/>
          <p:cNvSpPr/>
          <p:nvPr/>
        </p:nvSpPr>
        <p:spPr>
          <a:xfrm>
            <a:off x="0" y="651752"/>
            <a:ext cx="12192000" cy="736551"/>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7" name="Google Shape;187;p27"/>
          <p:cNvSpPr txBox="1"/>
          <p:nvPr>
            <p:ph type="title"/>
          </p:nvPr>
        </p:nvSpPr>
        <p:spPr>
          <a:xfrm>
            <a:off x="556532" y="643467"/>
            <a:ext cx="11210925" cy="74483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200"/>
              <a:buFont typeface="Play"/>
              <a:buNone/>
            </a:pPr>
            <a:r>
              <a:rPr lang="pt-PT" sz="3200">
                <a:solidFill>
                  <a:schemeClr val="lt1"/>
                </a:solidFill>
                <a:latin typeface="Play"/>
                <a:ea typeface="Play"/>
                <a:cs typeface="Play"/>
                <a:sym typeface="Play"/>
              </a:rPr>
              <a:t>Plan for Next Week (Sub-groups 1 and 2)</a:t>
            </a:r>
            <a:endParaRPr/>
          </a:p>
        </p:txBody>
      </p:sp>
      <p:sp>
        <p:nvSpPr>
          <p:cNvPr id="188" name="Google Shape;188;p2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406400" lvl="0" marL="457200" rtl="0" algn="l">
              <a:spcBef>
                <a:spcPts val="0"/>
              </a:spcBef>
              <a:spcAft>
                <a:spcPts val="0"/>
              </a:spcAft>
              <a:buSzPts val="2800"/>
              <a:buChar char="•"/>
            </a:pPr>
            <a:r>
              <a:rPr lang="pt-PT" sz="2400"/>
              <a:t>1. Measure velocity with the provided Power Amplifier connected to the Tx output of the SDR.</a:t>
            </a:r>
            <a:endParaRPr sz="2400"/>
          </a:p>
          <a:p>
            <a:pPr indent="0" lvl="0" marL="457200" rtl="0" algn="l">
              <a:spcBef>
                <a:spcPts val="0"/>
              </a:spcBef>
              <a:spcAft>
                <a:spcPts val="0"/>
              </a:spcAft>
              <a:buNone/>
            </a:pPr>
            <a:r>
              <a:t/>
            </a:r>
            <a:endParaRPr sz="2400"/>
          </a:p>
          <a:p>
            <a:pPr indent="-381000" lvl="0" marL="457200" rtl="0" algn="l">
              <a:spcBef>
                <a:spcPts val="0"/>
              </a:spcBef>
              <a:spcAft>
                <a:spcPts val="0"/>
              </a:spcAft>
              <a:buSzPts val="2400"/>
              <a:buChar char="•"/>
            </a:pPr>
            <a:r>
              <a:rPr lang="pt-PT" sz="2400"/>
              <a:t>2. Compare the result obtained form the previous task to the case when there is no power amplifier at the output of the Tx stage of the SDR.</a:t>
            </a:r>
            <a:endParaRPr sz="2400"/>
          </a:p>
          <a:p>
            <a:pPr indent="0" lvl="0" marL="457200" rtl="0" algn="l">
              <a:spcBef>
                <a:spcPts val="0"/>
              </a:spcBef>
              <a:spcAft>
                <a:spcPts val="0"/>
              </a:spcAft>
              <a:buNone/>
            </a:pPr>
            <a:r>
              <a:t/>
            </a:r>
            <a:endParaRPr sz="2400"/>
          </a:p>
          <a:p>
            <a:pPr indent="-406400" lvl="0" marL="457200" rtl="0" algn="l">
              <a:spcBef>
                <a:spcPts val="0"/>
              </a:spcBef>
              <a:spcAft>
                <a:spcPts val="0"/>
              </a:spcAft>
              <a:buSzPts val="2800"/>
              <a:buChar char="•"/>
            </a:pPr>
            <a:r>
              <a:rPr lang="pt-PT" sz="2400"/>
              <a:t>3. Monitor the breathing pattern of an individual using Low-IF CW mode.</a:t>
            </a:r>
            <a:endParaRPr sz="2400"/>
          </a:p>
          <a:p>
            <a:pPr indent="0" lvl="0" marL="457200" rtl="0" algn="l">
              <a:spcBef>
                <a:spcPts val="0"/>
              </a:spcBef>
              <a:spcAft>
                <a:spcPts val="0"/>
              </a:spcAft>
              <a:buClr>
                <a:schemeClr val="dk1"/>
              </a:buClr>
              <a:buSzPts val="1100"/>
              <a:buFont typeface="Arial"/>
              <a:buNone/>
            </a:pPr>
            <a:r>
              <a:t/>
            </a:r>
            <a:endParaRPr sz="2400"/>
          </a:p>
          <a:p>
            <a:pPr indent="-381000" lvl="0" marL="457200" rtl="0" algn="l">
              <a:spcBef>
                <a:spcPts val="0"/>
              </a:spcBef>
              <a:spcAft>
                <a:spcPts val="0"/>
              </a:spcAft>
              <a:buSzPts val="2400"/>
              <a:buChar char="•"/>
            </a:pPr>
            <a:r>
              <a:rPr lang="pt-PT" sz="2400"/>
              <a:t>4. Monitor the breathing pattern of an individual using CW mode.</a:t>
            </a:r>
            <a:endParaRPr sz="2400"/>
          </a:p>
          <a:p>
            <a:pPr indent="0" lvl="0" marL="457200" rtl="0" algn="l">
              <a:spcBef>
                <a:spcPts val="0"/>
              </a:spcBef>
              <a:spcAft>
                <a:spcPts val="0"/>
              </a:spcAft>
              <a:buClr>
                <a:schemeClr val="dk1"/>
              </a:buClr>
              <a:buSzPts val="1100"/>
              <a:buFont typeface="Arial"/>
              <a:buNone/>
            </a:pPr>
            <a:r>
              <a:t/>
            </a:r>
            <a:endParaRPr sz="2400"/>
          </a:p>
          <a:p>
            <a:pPr indent="-381000" lvl="0" marL="457200" rtl="0" algn="l">
              <a:spcBef>
                <a:spcPts val="0"/>
              </a:spcBef>
              <a:spcAft>
                <a:spcPts val="0"/>
              </a:spcAft>
              <a:buSzPts val="2400"/>
              <a:buChar char="•"/>
            </a:pPr>
            <a:r>
              <a:rPr lang="pt-PT" sz="2400"/>
              <a:t>5. Range Measurement in SFCW Mode</a:t>
            </a:r>
            <a:endParaRPr sz="2400"/>
          </a:p>
        </p:txBody>
      </p:sp>
    </p:spTree>
  </p:cSld>
  <p:clrMapOvr>
    <a:masterClrMapping/>
  </p:clrMapOvr>
</p:sld>
</file>

<file path=ppt/theme/theme1.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2025-09-08T20:04:49Z</dcterms:created>
  <dc:creator>RAFAEL ANTÓNIO DA CRUZ RODRIGUES</dc:creator>
</cp:coreProperties>
</file>