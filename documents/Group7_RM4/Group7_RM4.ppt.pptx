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Play"/>
      <p:regular r:id="rId26"/>
      <p:bold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ifI9sw84ha67jJqTmU2dWJVnP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regular.fntdata"/><Relationship Id="rId25" Type="http://schemas.openxmlformats.org/officeDocument/2006/relationships/slide" Target="slides/slide21.xml"/><Relationship Id="rId28" Type="http://schemas.openxmlformats.org/officeDocument/2006/relationships/font" Target="fonts/RobotoMono-regular.fntdata"/><Relationship Id="rId27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90a3de980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490a3de980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65f8ab72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665f8ab72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65f8ab72c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665f8ab72c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65f8ab72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665f8ab72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65f8ab72c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665f8ab72c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36c307c9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836c307c9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36c307c9e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836c307c9e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36c307c9e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836c307c9e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3da305f4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83da305f4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49bf7c26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849bf7c26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49bf7c264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849bf7c264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49bf7c264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849bf7c264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49bf7c264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849bf7c264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49bf7c26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/>
              <a:t>When you form the SAR image using </a:t>
            </a:r>
            <a:r>
              <a:rPr b="1" lang="pt-PT" sz="1100"/>
              <a:t>Range Migration Algorithm (RMA)</a:t>
            </a:r>
            <a:r>
              <a:rPr lang="pt-PT" sz="1100"/>
              <a:t>, the raw backscatter amplitudes along the </a:t>
            </a:r>
            <a:r>
              <a:rPr b="1" lang="pt-PT" sz="1100"/>
              <a:t>down-range (fast time)</a:t>
            </a:r>
            <a:r>
              <a:rPr lang="pt-PT" sz="1100"/>
              <a:t> dimension are not naturally corrected for </a:t>
            </a:r>
            <a:r>
              <a:rPr b="1" lang="pt-PT" sz="1100"/>
              <a:t>spreading loss</a:t>
            </a:r>
            <a:r>
              <a:rPr lang="pt-PT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/>
              <a:t>A radar wave spreads out </a:t>
            </a:r>
            <a:r>
              <a:rPr b="1" lang="pt-PT" sz="1100"/>
              <a:t>spherically</a:t>
            </a:r>
            <a:r>
              <a:rPr lang="pt-PT" sz="1100"/>
              <a:t>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/>
              <a:t>Signal power received from a target decays as </a:t>
            </a:r>
            <a:r>
              <a:rPr b="1" lang="pt-PT" sz="1100"/>
              <a:t>1/R²</a:t>
            </a:r>
            <a:r>
              <a:rPr lang="pt-PT" sz="1100"/>
              <a:t> (two-way propagation: one 1/R1/R1/R going out, another 1/R1/R1/R coming back).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/>
              <a:t>To compensate, before migration, you </a:t>
            </a:r>
            <a:r>
              <a:rPr b="1" lang="pt-PT" sz="1100"/>
              <a:t>multiply each range bin</a:t>
            </a:r>
            <a:r>
              <a:rPr lang="pt-PT" sz="1100"/>
              <a:t> by the square of its down-range vector (R2R^2R2)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/>
              <a:t>This equalizes energy across ranges and makes reflectors at larger distances appear with the same intensity as nearby ones.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849bf7c26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73132422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73132422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873132422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731324227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731324227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8731324227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731324227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731324227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8731324227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8731324227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8731324227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8731324227_1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8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38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Relationship Id="rId4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2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66577"/>
            <a:ext cx="9144000" cy="13294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b="1" lang="pt-PT"/>
              <a:t>Review Meeting 4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2626895"/>
            <a:ext cx="9144000" cy="1008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/>
              <a:t>Build your own Radar System, Project Course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968557" y="3766651"/>
            <a:ext cx="6254885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Bingxue Xu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Nikita Dubrovskyi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Rafael Rodrigues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Stefano Crescenza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968557" y="6117105"/>
            <a:ext cx="62548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PT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Tuesday, 30/09/2025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/>
              <a:t>Week Achievements</a:t>
            </a:r>
            <a:endParaRPr b="1"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SAR image generation: Time Domain Correlation.</a:t>
            </a:r>
            <a:endParaRPr sz="24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SAR image generation: Range Migration Algorithm (RMA).</a:t>
            </a:r>
            <a:endParaRPr sz="24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SAR image generation using real targets: Range Migration Algorithm (RMA).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SAR image measurement: acquisition of the SAR image using the three available trihedral corner reflectors as targets.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90a3de980_3_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Time Domain Correlation 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a.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Increase 𝐹𝐹𝑠𝑠 to 250 kHz. How long does it take to generate the image? Why?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490a3de980_3_0"/>
          <p:cNvSpPr txBox="1"/>
          <p:nvPr/>
        </p:nvSpPr>
        <p:spPr>
          <a:xfrm>
            <a:off x="914400" y="1165400"/>
            <a:ext cx="3799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6.016496 seconds.</a:t>
            </a:r>
            <a:endParaRPr/>
          </a:p>
        </p:txBody>
      </p:sp>
      <p:sp>
        <p:nvSpPr>
          <p:cNvPr id="104" name="Google Shape;104;g3490a3de980_3_0"/>
          <p:cNvSpPr txBox="1"/>
          <p:nvPr/>
        </p:nvSpPr>
        <p:spPr>
          <a:xfrm>
            <a:off x="5284075" y="116540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221.283552 seconds.</a:t>
            </a:r>
            <a:endParaRPr/>
          </a:p>
        </p:txBody>
      </p:sp>
      <p:sp>
        <p:nvSpPr>
          <p:cNvPr id="105" name="Google Shape;105;g3490a3de980_3_0"/>
          <p:cNvSpPr txBox="1"/>
          <p:nvPr/>
        </p:nvSpPr>
        <p:spPr>
          <a:xfrm>
            <a:off x="2346825" y="4873800"/>
            <a:ext cx="62394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overall complexity: Runtime </a:t>
            </a:r>
            <a:r>
              <a:rPr lang="pt-PT" sz="1100">
                <a:solidFill>
                  <a:schemeClr val="dk1"/>
                </a:solidFill>
              </a:rPr>
              <a:t>∝ </a:t>
            </a:r>
            <a:r>
              <a:rPr lang="pt-PT" sz="1100">
                <a:solidFill>
                  <a:schemeClr val="dk1"/>
                </a:solidFill>
              </a:rPr>
              <a:t>O(m×n×M×N) -&gt; 25× increase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solidFill>
                  <a:schemeClr val="dk1"/>
                </a:solidFill>
              </a:rPr>
              <a:t>Increasing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Fs</a:t>
            </a:r>
            <a:r>
              <a:rPr lang="pt-PT" sz="1100">
                <a:solidFill>
                  <a:schemeClr val="dk1"/>
                </a:solidFill>
              </a:rPr>
              <a:t>  5×→ increases the </a:t>
            </a:r>
            <a:r>
              <a:rPr b="1" lang="pt-PT" sz="1100">
                <a:solidFill>
                  <a:schemeClr val="dk1"/>
                </a:solidFill>
              </a:rPr>
              <a:t>5 of time samples </a:t>
            </a:r>
            <a:r>
              <a:rPr b="1"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pt-PT" sz="1100">
                <a:solidFill>
                  <a:schemeClr val="dk1"/>
                </a:solidFill>
              </a:rPr>
              <a:t> per chirp → increases the </a:t>
            </a:r>
            <a:r>
              <a:rPr b="1" lang="pt-PT" sz="1100">
                <a:solidFill>
                  <a:schemeClr val="dk1"/>
                </a:solidFill>
              </a:rPr>
              <a:t>signal resolution</a:t>
            </a:r>
            <a:r>
              <a:rPr lang="pt-PT" sz="1100">
                <a:solidFill>
                  <a:schemeClr val="dk1"/>
                </a:solidFill>
              </a:rPr>
              <a:t> in time/range. →  increases runtime </a:t>
            </a:r>
            <a:r>
              <a:rPr lang="pt-PT" sz="1100">
                <a:solidFill>
                  <a:srgbClr val="EB5757"/>
                </a:solidFill>
              </a:rPr>
              <a:t>25×, </a:t>
            </a:r>
            <a:r>
              <a:rPr lang="pt-PT" sz="1100">
                <a:solidFill>
                  <a:schemeClr val="dk1"/>
                </a:solidFill>
              </a:rPr>
              <a:t>theoretically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6" name="Google Shape;106;g3490a3de980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8000"/>
            <a:ext cx="4287812" cy="30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490a3de980_3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825" y="1648700"/>
            <a:ext cx="4796168" cy="30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490a3de980_3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27393" y="1645500"/>
            <a:ext cx="2386530" cy="50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65f8ab72c_0_19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1. Time Domain Correlation 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b. Reduce 𝐹𝐹𝑠𝑠 back to 50 kHz and increase the rail length going to xp = -6000E- 3:spacing:6000E-3. How long does it take to generate the image? Why? What happens to the cross-range resolution?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665f8ab72c_0_19"/>
          <p:cNvSpPr txBox="1"/>
          <p:nvPr/>
        </p:nvSpPr>
        <p:spPr>
          <a:xfrm>
            <a:off x="914400" y="1165400"/>
            <a:ext cx="3799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6.016496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5" name="Google Shape;115;g3665f8ab72c_0_19"/>
          <p:cNvSpPr txBox="1"/>
          <p:nvPr/>
        </p:nvSpPr>
        <p:spPr>
          <a:xfrm>
            <a:off x="5969525" y="113075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29.546504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6" name="Google Shape;116;g3665f8ab72c_0_19"/>
          <p:cNvSpPr txBox="1"/>
          <p:nvPr/>
        </p:nvSpPr>
        <p:spPr>
          <a:xfrm>
            <a:off x="2346825" y="4873800"/>
            <a:ext cx="70704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overall complexity: Runtime ∝ O(m×n×M×N), </a:t>
            </a:r>
            <a:r>
              <a:rPr lang="pt-PT" sz="1100">
                <a:solidFill>
                  <a:schemeClr val="dk1"/>
                </a:solidFill>
              </a:rPr>
              <a:t> total iterations in the loop increase by </a:t>
            </a:r>
            <a:r>
              <a:rPr b="1" lang="pt-PT" sz="1100">
                <a:solidFill>
                  <a:schemeClr val="dk1"/>
                </a:solidFill>
              </a:rPr>
              <a:t>4×</a:t>
            </a:r>
            <a:r>
              <a:rPr lang="pt-PT" sz="1100">
                <a:solidFill>
                  <a:schemeClr val="dk1"/>
                </a:solidFill>
              </a:rPr>
              <a:t>, theoretically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pt-PT" sz="1100">
                <a:solidFill>
                  <a:schemeClr val="dk1"/>
                </a:solidFill>
              </a:rPr>
              <a:t> doubles (more radar positions),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pt-PT" sz="1100">
                <a:solidFill>
                  <a:schemeClr val="dk1"/>
                </a:solidFill>
              </a:rPr>
              <a:t> doubles (more pixels to compute),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increasing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</a:t>
            </a:r>
            <a:r>
              <a:rPr lang="pt-PT" sz="1100">
                <a:solidFill>
                  <a:schemeClr val="dk1"/>
                </a:solidFill>
              </a:rPr>
              <a:t> </a:t>
            </a:r>
            <a:r>
              <a:rPr b="1" lang="pt-PT" sz="1100">
                <a:solidFill>
                  <a:schemeClr val="dk1"/>
                </a:solidFill>
              </a:rPr>
              <a:t>2</a:t>
            </a:r>
            <a:r>
              <a:rPr b="1" lang="pt-PT" sz="1100">
                <a:solidFill>
                  <a:schemeClr val="dk1"/>
                </a:solidFill>
              </a:rPr>
              <a:t>×</a:t>
            </a:r>
            <a:r>
              <a:rPr lang="pt-PT" sz="1100">
                <a:solidFill>
                  <a:schemeClr val="dk1"/>
                </a:solidFill>
              </a:rPr>
              <a:t>→ </a:t>
            </a:r>
            <a:r>
              <a:rPr b="1" lang="pt-PT" sz="1100">
                <a:solidFill>
                  <a:schemeClr val="dk1"/>
                </a:solidFill>
              </a:rPr>
              <a:t>2</a:t>
            </a:r>
            <a:r>
              <a:rPr b="1" lang="pt-PT" sz="1100">
                <a:solidFill>
                  <a:schemeClr val="dk1"/>
                </a:solidFill>
              </a:rPr>
              <a:t>×</a:t>
            </a:r>
            <a:r>
              <a:rPr lang="pt-PT" sz="1100">
                <a:solidFill>
                  <a:schemeClr val="dk1"/>
                </a:solidFill>
              </a:rPr>
              <a:t> </a:t>
            </a:r>
            <a:r>
              <a:rPr b="1" lang="pt-PT" sz="1100">
                <a:solidFill>
                  <a:schemeClr val="dk1"/>
                </a:solidFill>
              </a:rPr>
              <a:t>better cross-range resolution</a:t>
            </a:r>
            <a:r>
              <a:rPr lang="pt-PT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7" name="Google Shape;117;g3665f8ab72c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75" y="4817325"/>
            <a:ext cx="1896962" cy="1587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665f8ab72c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3600" y="1668800"/>
            <a:ext cx="4708025" cy="2997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665f8ab72c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525" y="1653513"/>
            <a:ext cx="4287812" cy="30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665f8ab72c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36324" y="1130750"/>
            <a:ext cx="2386994" cy="506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65f8ab72c_0_47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1. Time Domain Correlation 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c. Reduce the rail length back to xp = -3000E-3:spacing:3000E-3 and increase the position of the second target to 50 meter and the third target to 90 meter. Comment on the cross-range resolution of each target?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665f8ab72c_0_47"/>
          <p:cNvSpPr txBox="1"/>
          <p:nvPr/>
        </p:nvSpPr>
        <p:spPr>
          <a:xfrm>
            <a:off x="914400" y="1165400"/>
            <a:ext cx="3799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6.016496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g3665f8ab72c_0_47"/>
          <p:cNvSpPr txBox="1"/>
          <p:nvPr/>
        </p:nvSpPr>
        <p:spPr>
          <a:xfrm>
            <a:off x="5969525" y="113075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6.360319 seconds.</a:t>
            </a:r>
            <a:endParaRPr/>
          </a:p>
        </p:txBody>
      </p:sp>
      <p:sp>
        <p:nvSpPr>
          <p:cNvPr id="128" name="Google Shape;128;g3665f8ab72c_0_47"/>
          <p:cNvSpPr txBox="1"/>
          <p:nvPr/>
        </p:nvSpPr>
        <p:spPr>
          <a:xfrm>
            <a:off x="2346825" y="4873800"/>
            <a:ext cx="70704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100"/>
              <a:t>Target range (Z) Cross-Range Resolution (Δx)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When increasing the range of the targets, the cross-range resolution degrades proportionally with the target distance.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10 m </a:t>
            </a:r>
            <a:r>
              <a:rPr lang="pt-PT" sz="1100"/>
              <a:t>~  </a:t>
            </a:r>
            <a:r>
              <a:rPr b="1" lang="pt-PT" sz="1100"/>
              <a:t>10.2 cm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50 m ~ </a:t>
            </a:r>
            <a:r>
              <a:rPr b="1" lang="pt-PT" sz="1100"/>
              <a:t>51.0 cm</a:t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90 m ~ </a:t>
            </a:r>
            <a:r>
              <a:rPr b="1" lang="pt-PT" sz="1100"/>
              <a:t>91.8 cm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9" name="Google Shape;129;g3665f8ab72c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75" y="4817325"/>
            <a:ext cx="1896962" cy="1587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665f8ab72c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48700"/>
            <a:ext cx="4534226" cy="301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665f8ab72c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6000" y="1645500"/>
            <a:ext cx="4705516" cy="3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665f8ab72c_0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23916" y="1645500"/>
            <a:ext cx="2314310" cy="506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65f8ab72c_0_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a. Increase 𝐹𝐹𝑠𝑠 to 250 kHz. How long does it take to generate the image? Why?  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665f8ab72c_0_0"/>
          <p:cNvSpPr txBox="1"/>
          <p:nvPr/>
        </p:nvSpPr>
        <p:spPr>
          <a:xfrm>
            <a:off x="914400" y="116540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0.107914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g3665f8ab72c_0_0"/>
          <p:cNvSpPr txBox="1"/>
          <p:nvPr/>
        </p:nvSpPr>
        <p:spPr>
          <a:xfrm>
            <a:off x="8303075" y="116540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0.082016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0" name="Google Shape;140;g3665f8ab72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50" y="1592064"/>
            <a:ext cx="3948425" cy="26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665f8ab72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8248" y="1496300"/>
            <a:ext cx="3948378" cy="26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665f8ab72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350" y="4379325"/>
            <a:ext cx="2291275" cy="22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665f8ab72c_0_0"/>
          <p:cNvSpPr txBox="1"/>
          <p:nvPr/>
        </p:nvSpPr>
        <p:spPr>
          <a:xfrm>
            <a:off x="4203750" y="1998950"/>
            <a:ext cx="3784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O</a:t>
            </a:r>
            <a:r>
              <a:rPr lang="pt-PT" sz="1100">
                <a:solidFill>
                  <a:schemeClr val="dk1"/>
                </a:solidFill>
              </a:rPr>
              <a:t>verall complexity: Runtime ∝ fft+interpolation + ifft+ plot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within interpolation for loop, N increases 5 ×, runtime should increase 5 ×, theoretically, most of runtime is spent on plot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fft and ifft runtime stay the same with different m and n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MATLAB’s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fft()</a:t>
            </a:r>
            <a:r>
              <a:rPr lang="pt-PT" sz="1100">
                <a:solidFill>
                  <a:schemeClr val="dk1"/>
                </a:solidFill>
              </a:rPr>
              <a:t> uses optimized algorithms that </a:t>
            </a:r>
            <a:r>
              <a:rPr b="1" lang="pt-PT" sz="1100">
                <a:solidFill>
                  <a:schemeClr val="dk1"/>
                </a:solidFill>
              </a:rPr>
              <a:t>iterate recursively</a:t>
            </a:r>
            <a:r>
              <a:rPr lang="pt-PT" sz="1100">
                <a:solidFill>
                  <a:schemeClr val="dk1"/>
                </a:solidFill>
              </a:rPr>
              <a:t>, but it is </a:t>
            </a:r>
            <a:r>
              <a:rPr b="1" lang="pt-PT" sz="1100">
                <a:solidFill>
                  <a:schemeClr val="dk1"/>
                </a:solidFill>
              </a:rPr>
              <a:t>highly vectorized and compiled</a:t>
            </a:r>
            <a:r>
              <a:rPr lang="pt-PT" sz="1100">
                <a:solidFill>
                  <a:schemeClr val="dk1"/>
                </a:solidFill>
              </a:rPr>
              <a:t> in C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44" name="Google Shape;144;g3665f8ab72c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45350" y="4379325"/>
            <a:ext cx="2291275" cy="216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665f8ab72c_0_0" title="tabela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31555" y="4483600"/>
            <a:ext cx="6928896" cy="17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65f8ab72c_0_75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1. Time Domain Correlation 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1):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d. Keep the target position as in the previous steps and change f = 5.4 − 5.5 𝐺Hz. How long does it take to generate the image? Why?  What happens to the maximum range?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665f8ab72c_0_75"/>
          <p:cNvSpPr txBox="1"/>
          <p:nvPr/>
        </p:nvSpPr>
        <p:spPr>
          <a:xfrm>
            <a:off x="1287125" y="114855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6.360319 seconds.</a:t>
            </a:r>
            <a:endParaRPr/>
          </a:p>
        </p:txBody>
      </p:sp>
      <p:sp>
        <p:nvSpPr>
          <p:cNvPr id="152" name="Google Shape;152;g3665f8ab72c_0_75"/>
          <p:cNvSpPr txBox="1"/>
          <p:nvPr/>
        </p:nvSpPr>
        <p:spPr>
          <a:xfrm>
            <a:off x="3675525" y="4873800"/>
            <a:ext cx="57417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100">
                <a:solidFill>
                  <a:schemeClr val="dk1"/>
                </a:solidFill>
              </a:rPr>
              <a:t>overall complexity: Runtime ∝ O(m×n×M×N), -&gt; 4.5× increase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when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λ</a:t>
            </a:r>
            <a:r>
              <a:rPr lang="pt-PT" sz="1100">
                <a:solidFill>
                  <a:schemeClr val="dk1"/>
                </a:solidFill>
              </a:rPr>
              <a:t> becomes ~half (i.e. you double the frequency from 2.45 GHz → 5.45 GHz), m changes from 99→219, both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pt-PT" sz="1100">
                <a:solidFill>
                  <a:schemeClr val="dk1"/>
                </a:solidFill>
              </a:rPr>
              <a:t> and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pt-PT" sz="1100">
                <a:solidFill>
                  <a:schemeClr val="dk1"/>
                </a:solidFill>
              </a:rPr>
              <a:t> ~double.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00"/>
              <a:t>The maximum range does not change when you increase the center frequency from 2.45 GHz → 5.45 GHz, because the bandwidth, sampling frequency, and chirp duration all remain the same.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3" name="Google Shape;153;g3665f8ab72c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600" y="1663300"/>
            <a:ext cx="4705516" cy="3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665f8ab72c_0_75"/>
          <p:cNvSpPr txBox="1"/>
          <p:nvPr/>
        </p:nvSpPr>
        <p:spPr>
          <a:xfrm>
            <a:off x="5732800" y="114855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34.152778 seconds.</a:t>
            </a:r>
            <a:endParaRPr/>
          </a:p>
        </p:txBody>
      </p:sp>
      <p:pic>
        <p:nvPicPr>
          <p:cNvPr id="155" name="Google Shape;155;g3665f8ab72c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516" y="1645500"/>
            <a:ext cx="4529999" cy="294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665f8ab72c_0_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23915" y="1645500"/>
            <a:ext cx="2272211" cy="506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665f8ab72c_0_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675" y="5366725"/>
            <a:ext cx="27241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36c307c9e_0_1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b. Keep 𝐹𝐹𝑠𝑠 at 250 kHz and increase the rail length going from xp = -6000E-3:spacing:6000E-3. How long does it take to generate the image? Why? what happens to the cross-range resolution?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836c307c9e_0_18"/>
          <p:cNvSpPr txBox="1"/>
          <p:nvPr/>
        </p:nvSpPr>
        <p:spPr>
          <a:xfrm>
            <a:off x="203825" y="120005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0.122072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g3836c307c9e_0_18"/>
          <p:cNvSpPr txBox="1"/>
          <p:nvPr/>
        </p:nvSpPr>
        <p:spPr>
          <a:xfrm>
            <a:off x="710005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g3836c307c9e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25" y="1598349"/>
            <a:ext cx="4523854" cy="3135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836c307c9e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300" y="1565600"/>
            <a:ext cx="3000000" cy="2863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836c307c9e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1250" y="3715875"/>
            <a:ext cx="1360175" cy="113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836c307c9e_0_18"/>
          <p:cNvSpPr txBox="1"/>
          <p:nvPr/>
        </p:nvSpPr>
        <p:spPr>
          <a:xfrm>
            <a:off x="7987950" y="1598350"/>
            <a:ext cx="39012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>
                <a:solidFill>
                  <a:schemeClr val="dk1"/>
                </a:solidFill>
              </a:rPr>
              <a:t>theoretically, d</a:t>
            </a:r>
            <a:r>
              <a:rPr lang="pt-PT" sz="1100">
                <a:solidFill>
                  <a:schemeClr val="dk1"/>
                </a:solidFill>
              </a:rPr>
              <a:t>oubling the rail length (from 6 m to 12 m) approximately </a:t>
            </a:r>
            <a:r>
              <a:rPr b="1" lang="pt-PT" sz="1100">
                <a:solidFill>
                  <a:schemeClr val="dk1"/>
                </a:solidFill>
              </a:rPr>
              <a:t>doubles the image generation time</a:t>
            </a:r>
            <a:r>
              <a:rPr lang="pt-PT" sz="1100">
                <a:solidFill>
                  <a:schemeClr val="dk1"/>
                </a:solidFill>
              </a:rPr>
              <a:t>. This is because all signal processing steps scale linearly with the number of radar positions (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pt-PT" sz="1100">
                <a:solidFill>
                  <a:schemeClr val="dk1"/>
                </a:solidFill>
              </a:rPr>
              <a:t>), and doubling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xp</a:t>
            </a:r>
            <a:r>
              <a:rPr lang="pt-PT" sz="1100">
                <a:solidFill>
                  <a:schemeClr val="dk1"/>
                </a:solidFill>
              </a:rPr>
              <a:t> range doubles </a:t>
            </a:r>
            <a:r>
              <a:rPr lang="pt-P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</a:t>
            </a:r>
            <a:r>
              <a:rPr lang="pt-PT" sz="1100">
                <a:solidFill>
                  <a:schemeClr val="dk1"/>
                </a:solidFill>
              </a:rPr>
              <a:t>. But in real run they are almost the same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>
                <a:solidFill>
                  <a:schemeClr val="dk1"/>
                </a:solidFill>
              </a:rPr>
              <a:t>Cross-range resolution improves (gets finer) with increased rail length. According to the fomula ince L increases, ρ\rhoρ decreases. Which means better separate nearby targets in the cross-range direction (X).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69" name="Google Shape;169;g3836c307c9e_0_18" title="tabela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6538" y="4839025"/>
            <a:ext cx="7185521" cy="178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36c307c9e_0_53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c. Reduce the rail length back to xp = -3000E-3:spacing:3000E-3 and increase the position of the second target to 50 meter and the third target to 90 meter. Comment on the cross-range resolution of each target?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836c307c9e_0_53"/>
          <p:cNvSpPr txBox="1"/>
          <p:nvPr/>
        </p:nvSpPr>
        <p:spPr>
          <a:xfrm>
            <a:off x="914400" y="1165400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0.066368 seconds.</a:t>
            </a:r>
            <a:endParaRPr/>
          </a:p>
        </p:txBody>
      </p:sp>
      <p:sp>
        <p:nvSpPr>
          <p:cNvPr id="176" name="Google Shape;176;g3836c307c9e_0_53"/>
          <p:cNvSpPr txBox="1"/>
          <p:nvPr/>
        </p:nvSpPr>
        <p:spPr>
          <a:xfrm>
            <a:off x="710005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g3836c307c9e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0000" y="2671725"/>
            <a:ext cx="1896962" cy="158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836c307c9e_0_53"/>
          <p:cNvSpPr txBox="1"/>
          <p:nvPr/>
        </p:nvSpPr>
        <p:spPr>
          <a:xfrm>
            <a:off x="745050" y="5364900"/>
            <a:ext cx="107019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>
                <a:solidFill>
                  <a:schemeClr val="dk1"/>
                </a:solidFill>
              </a:rPr>
              <a:t>Cross-range resolution gets worse (larger) as distance increases.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PT" sz="1100">
                <a:solidFill>
                  <a:schemeClr val="dk1"/>
                </a:solidFill>
              </a:rPr>
              <a:t>Target 1 (z = 10 m)</a:t>
            </a:r>
            <a:r>
              <a:rPr lang="pt-PT" sz="1100">
                <a:solidFill>
                  <a:schemeClr val="dk1"/>
                </a:solidFill>
              </a:rPr>
              <a:t> appears </a:t>
            </a:r>
            <a:r>
              <a:rPr b="1" lang="pt-PT" sz="1100">
                <a:solidFill>
                  <a:schemeClr val="dk1"/>
                </a:solidFill>
              </a:rPr>
              <a:t>sharpest</a:t>
            </a:r>
            <a:r>
              <a:rPr lang="pt-PT" sz="1100">
                <a:solidFill>
                  <a:schemeClr val="dk1"/>
                </a:solidFill>
              </a:rPr>
              <a:t> in cross-range,(~10.2 cm)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PT" sz="1100">
                <a:solidFill>
                  <a:schemeClr val="dk1"/>
                </a:solidFill>
              </a:rPr>
              <a:t>Target 2 (z = 50 m)</a:t>
            </a:r>
            <a:r>
              <a:rPr lang="pt-PT" sz="1100">
                <a:solidFill>
                  <a:schemeClr val="dk1"/>
                </a:solidFill>
              </a:rPr>
              <a:t> appears more </a:t>
            </a:r>
            <a:r>
              <a:rPr b="1" lang="pt-PT" sz="1100">
                <a:solidFill>
                  <a:schemeClr val="dk1"/>
                </a:solidFill>
              </a:rPr>
              <a:t>blurred</a:t>
            </a:r>
            <a:r>
              <a:rPr lang="pt-PT" sz="1100">
                <a:solidFill>
                  <a:schemeClr val="dk1"/>
                </a:solidFill>
              </a:rPr>
              <a:t> laterally, (~51 cm).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PT" sz="1100">
                <a:solidFill>
                  <a:schemeClr val="dk1"/>
                </a:solidFill>
              </a:rPr>
              <a:t>Target 3 (z = 90 m)</a:t>
            </a:r>
            <a:r>
              <a:rPr lang="pt-PT" sz="1100">
                <a:solidFill>
                  <a:schemeClr val="dk1"/>
                </a:solidFill>
              </a:rPr>
              <a:t> is even </a:t>
            </a:r>
            <a:r>
              <a:rPr b="1" lang="pt-PT" sz="1100">
                <a:solidFill>
                  <a:schemeClr val="dk1"/>
                </a:solidFill>
              </a:rPr>
              <a:t>less distinguishable</a:t>
            </a:r>
            <a:r>
              <a:rPr lang="pt-PT" sz="1100">
                <a:solidFill>
                  <a:schemeClr val="dk1"/>
                </a:solidFill>
              </a:rPr>
              <a:t> in the X-direction, (~91.8 cm).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9" name="Google Shape;179;g3836c307c9e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050" y="1718000"/>
            <a:ext cx="5166037" cy="34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836c307c9e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312" y="1718000"/>
            <a:ext cx="2807057" cy="34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36c307c9e_0_3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2.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d. Keep the target position as in the previous steps and change f = 5.4 −5.5 𝐺Hz. How long does it take to generate the image? What happens to the cross-range resolution? What happens to the maximum range?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836c307c9e_0_38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836c307c9e_0_38"/>
          <p:cNvSpPr txBox="1"/>
          <p:nvPr/>
        </p:nvSpPr>
        <p:spPr>
          <a:xfrm>
            <a:off x="710005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g3836c307c9e_0_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3263" y="1194487"/>
            <a:ext cx="1457350" cy="12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836c307c9e_0_38"/>
          <p:cNvSpPr txBox="1"/>
          <p:nvPr/>
        </p:nvSpPr>
        <p:spPr>
          <a:xfrm>
            <a:off x="7620200" y="2252550"/>
            <a:ext cx="44376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The image takes about </a:t>
            </a:r>
            <a:r>
              <a:rPr b="1" lang="pt-PT" sz="1100">
                <a:solidFill>
                  <a:schemeClr val="dk1"/>
                </a:solidFill>
              </a:rPr>
              <a:t>twice as long</a:t>
            </a:r>
            <a:r>
              <a:rPr lang="pt-PT" sz="1100">
                <a:solidFill>
                  <a:schemeClr val="dk1"/>
                </a:solidFill>
              </a:rPr>
              <a:t> to generate due to increased spatial sampling (more radar positions with shorter wavelength).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>
                <a:solidFill>
                  <a:schemeClr val="dk1"/>
                </a:solidFill>
              </a:rPr>
              <a:t>λ≈0.122m → 0.056m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PT" sz="1100">
                <a:solidFill>
                  <a:schemeClr val="dk1"/>
                </a:solidFill>
              </a:rPr>
              <a:t>m = 99 → 219, So more radar positions = more rows to process more rows to process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Cross-range resolution improves because of the shorter wavelength. Targets appear narrower and more separated in X.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 sz="1100">
                <a:solidFill>
                  <a:schemeClr val="dk1"/>
                </a:solidFill>
              </a:rPr>
              <a:t>maximum range is determined by bandwidth and N, not center frequency — so it stays constant.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90" name="Google Shape;190;g3836c307c9e_0_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8601" y="1648864"/>
            <a:ext cx="2391603" cy="297728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3836c307c9e_0_38"/>
          <p:cNvSpPr txBox="1"/>
          <p:nvPr/>
        </p:nvSpPr>
        <p:spPr>
          <a:xfrm>
            <a:off x="134200" y="1095675"/>
            <a:ext cx="3000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Elapsed time is 0.097124 seconds.</a:t>
            </a:r>
            <a:endParaRPr sz="95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2" name="Google Shape;192;g3836c307c9e_0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03686" y="1461237"/>
            <a:ext cx="17907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836c307c9e_0_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200" y="1461225"/>
            <a:ext cx="4924776" cy="335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836c307c9e_0_38" title="tabela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7525" y="4918574"/>
            <a:ext cx="6416952" cy="178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3da305f41_1_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a. Plot the entire data and the sync signal.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83da305f41_1_0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83da305f41_1_0"/>
          <p:cNvSpPr txBox="1"/>
          <p:nvPr/>
        </p:nvSpPr>
        <p:spPr>
          <a:xfrm>
            <a:off x="710005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g383da305f41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925" y="1493100"/>
            <a:ext cx="7584977" cy="498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83da305f41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1077" y="1565600"/>
            <a:ext cx="3522297" cy="229324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83da305f41_1_0"/>
          <p:cNvSpPr txBox="1"/>
          <p:nvPr/>
        </p:nvSpPr>
        <p:spPr>
          <a:xfrm>
            <a:off x="8571075" y="4536125"/>
            <a:ext cx="34914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Nrp = round(0.5 * Fs)</a:t>
            </a:r>
            <a:r>
              <a:rPr lang="pt-PT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% 500 ms * Fs samples per rail position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radar_matrix(valid_rows,:) = radar_data(rail_start_indices(i) + Nrp : rail_start_indices(i) + 2*Nrp - 1)'; </a:t>
            </a:r>
            <a:r>
              <a:rPr lang="pt-PT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% leave a guard band Nrp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9210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49bf7c264_0_8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b. Show that the data is parsed correctly by plotting the parsed (according to the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position of the radar on the rail) backscatter data together with the parsed sync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data. (Lec.5, slide 56).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849bf7c264_0_8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849bf7c264_0_8"/>
          <p:cNvSpPr txBox="1"/>
          <p:nvPr/>
        </p:nvSpPr>
        <p:spPr>
          <a:xfrm>
            <a:off x="710005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g3849bf7c26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9551" y="1493100"/>
            <a:ext cx="3124976" cy="199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849bf7c264_0_8" title="parsed_data_zoom.png"/>
          <p:cNvPicPr preferRelativeResize="0"/>
          <p:nvPr/>
        </p:nvPicPr>
        <p:blipFill rotWithShape="1">
          <a:blip r:embed="rId4">
            <a:alphaModFix/>
          </a:blip>
          <a:srcRect b="6687" l="0" r="0" t="6687"/>
          <a:stretch/>
        </p:blipFill>
        <p:spPr>
          <a:xfrm>
            <a:off x="723895" y="1565595"/>
            <a:ext cx="6533846" cy="4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49bf7c264_0_1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c. Plot the integrated data to show that the data is parsed correctly according to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the up-chirp. (Lec. 5, as shown in the lower right figure on slide 57).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849bf7c264_0_1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849bf7c264_0_1"/>
          <p:cNvSpPr txBox="1"/>
          <p:nvPr/>
        </p:nvSpPr>
        <p:spPr>
          <a:xfrm>
            <a:off x="710005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g3849bf7c264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9050" y="1109475"/>
            <a:ext cx="3296300" cy="214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849bf7c264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1" y="1718000"/>
            <a:ext cx="6888949" cy="449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49bf7c264_0_27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d. Show the effect of variation in scan time Trp (amount of time spent in one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position on the rail) on the resolution or SNR of the final image. Increase and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decrease Trp to illustrate.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849bf7c264_0_27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849bf7c264_0_27"/>
          <p:cNvSpPr txBox="1"/>
          <p:nvPr/>
        </p:nvSpPr>
        <p:spPr>
          <a:xfrm>
            <a:off x="6274550" y="91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g3849bf7c264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431" y="2776350"/>
            <a:ext cx="3993200" cy="26031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849bf7c264_0_27"/>
          <p:cNvSpPr txBox="1"/>
          <p:nvPr/>
        </p:nvSpPr>
        <p:spPr>
          <a:xfrm>
            <a:off x="4501325" y="2255100"/>
            <a:ext cx="349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rp = 0.5</a:t>
            </a: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pt-PT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% 500 ms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2" name="Google Shape;232;g3849bf7c264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05" y="2803388"/>
            <a:ext cx="3910269" cy="254907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849bf7c264_0_27"/>
          <p:cNvSpPr txBox="1"/>
          <p:nvPr/>
        </p:nvSpPr>
        <p:spPr>
          <a:xfrm>
            <a:off x="476138" y="2294550"/>
            <a:ext cx="349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Trp = 0.1</a:t>
            </a: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pt-PT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4" name="Google Shape;234;g3849bf7c264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1430" y="2890313"/>
            <a:ext cx="3643570" cy="237521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849bf7c264_0_27"/>
          <p:cNvSpPr txBox="1"/>
          <p:nvPr/>
        </p:nvSpPr>
        <p:spPr>
          <a:xfrm>
            <a:off x="8641525" y="2294550"/>
            <a:ext cx="349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92100" marR="292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Trp = 1.0</a:t>
            </a:r>
            <a:r>
              <a:rPr lang="pt-PT" sz="95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pt-PT" sz="1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49bf7c264_0_45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e. Show results with and without using the Hann window.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849bf7c264_0_45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849bf7c264_0_45"/>
          <p:cNvSpPr txBox="1"/>
          <p:nvPr/>
        </p:nvSpPr>
        <p:spPr>
          <a:xfrm>
            <a:off x="6274550" y="91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g3849bf7c264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191" y="1645500"/>
            <a:ext cx="5794175" cy="377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849bf7c264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74" y="1560892"/>
            <a:ext cx="5923950" cy="3861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849bf7c264_0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4450" y="835275"/>
            <a:ext cx="4610100" cy="5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49bf7c264_0_6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3.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f.Show results with and without multiplication of the down range data with the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square of the down range vector. (this is on the last slide of the algorithm)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849bf7c264_0_60"/>
          <p:cNvSpPr txBox="1"/>
          <p:nvPr/>
        </p:nvSpPr>
        <p:spPr>
          <a:xfrm>
            <a:off x="914400" y="1165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849bf7c264_0_60"/>
          <p:cNvSpPr txBox="1"/>
          <p:nvPr/>
        </p:nvSpPr>
        <p:spPr>
          <a:xfrm>
            <a:off x="6274550" y="911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g3849bf7c264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8575"/>
            <a:ext cx="11689688" cy="49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731324227_1_0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SAR image measurement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g38731324227_1_0" title="first_SA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00" y="1188300"/>
            <a:ext cx="4117824" cy="549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8731324227_1_0" title="SAR_2_ful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658" y="1188300"/>
            <a:ext cx="7320567" cy="549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731324227_1_17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SAR image measurement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8731324227_1_17" title="SAR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4950" y="1416900"/>
            <a:ext cx="666750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38731324227_1_17" title="SAR_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2008400"/>
            <a:ext cx="5090150" cy="3817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731324227_1_25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a. Show the difference in azimuth resolution by using a shorter and longer rail length.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38731324227_1_25" title="SAR_2_ful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" y="1377700"/>
            <a:ext cx="6356851" cy="476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8731324227_1_25" title="SAR_2_less_po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4510" y="1401650"/>
            <a:ext cx="6356851" cy="47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731324227_1_41"/>
          <p:cNvSpPr txBox="1"/>
          <p:nvPr>
            <p:ph type="title"/>
          </p:nvPr>
        </p:nvSpPr>
        <p:spPr>
          <a:xfrm>
            <a:off x="0" y="0"/>
            <a:ext cx="12192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latin typeface="Arial"/>
                <a:ea typeface="Arial"/>
                <a:cs typeface="Arial"/>
                <a:sym typeface="Arial"/>
              </a:rPr>
              <a:t>4. Range Migration Algorithm (RMA) </a:t>
            </a: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(Sub-group 2):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PT" sz="18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a. Show the difference in azimuth resolution by using a shorter and longer rail length.</a:t>
            </a:r>
            <a:endParaRPr b="1" sz="180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g38731324227_1_41" title="SAR_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93100"/>
            <a:ext cx="6246924" cy="468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8731324227_1_41" title="SAR_reduc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5075" y="1493100"/>
            <a:ext cx="6246924" cy="46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7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pt-PT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Plan for Next Week (Sub-groups 1 and 2)</a:t>
            </a:r>
            <a:endParaRPr/>
          </a:p>
        </p:txBody>
      </p:sp>
      <p:sp>
        <p:nvSpPr>
          <p:cNvPr id="292" name="Google Shape;292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Velocity measurements with CW for </a:t>
            </a:r>
            <a:r>
              <a:rPr lang="pt-PT" sz="2400"/>
              <a:t>single and multiple targets</a:t>
            </a:r>
            <a:endParaRPr sz="24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Velocity measurements with Low-IF CW for single and multiple targets</a:t>
            </a:r>
            <a:endParaRPr sz="2400"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pt-PT" sz="2400"/>
              <a:t>Velocity direction detection with CW using IQ demodulation in SDR</a:t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PT" sz="2400"/>
              <a:t>Velocity direction detection with Low-IF CW using IQ demodulation in SDR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2025-09-08T20:04:49Z</dcterms:created>
  <dc:creator>RAFAEL ANTÓNIO DA CRUZ RODRIGUES</dc:creator>
</cp:coreProperties>
</file>