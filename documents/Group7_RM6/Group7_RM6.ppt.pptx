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Cambria Math" panose="02040503050406030204" pitchFamily="18" charset="0"/>
      <p:regular r:id="rId25"/>
    </p:embeddedFont>
    <p:embeddedFont>
      <p:font typeface="Play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lWJedW2nxc9YztqUvT5dhfonY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PT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8a881c85f_1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368a881c85f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c1c1d7a86_2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g38c1c1d7a86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c1c1d7a86_2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g38c1c1d7a86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c1c1d7a86_2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g38c1c1d7a86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c1c1d7a86_2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g38c1c1d7a86_2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c1c1d7a86_2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38c1c1d7a86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c1c1d7a86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PT" sz="1100"/>
              <a:t>The </a:t>
            </a:r>
            <a:r>
              <a:rPr lang="pt-PT" sz="1100" b="1"/>
              <a:t>Low-Intermediate-Frequency (Low-IF)</a:t>
            </a:r>
            <a:r>
              <a:rPr lang="pt-PT" sz="1100"/>
              <a:t> approach intentionally </a:t>
            </a:r>
            <a:r>
              <a:rPr lang="pt-PT" sz="1100" b="1"/>
              <a:t>shifts the signal away from DC</a:t>
            </a:r>
            <a:r>
              <a:rPr lang="pt-PT" sz="1100"/>
              <a:t>.</a:t>
            </a:r>
            <a:endParaRPr/>
          </a:p>
        </p:txBody>
      </p:sp>
      <p:sp>
        <p:nvSpPr>
          <p:cNvPr id="142" name="Google Shape;142;g38c1c1d7a8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c1c1d7a86_2_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PT" sz="1100"/>
              <a:t>The </a:t>
            </a:r>
            <a:r>
              <a:rPr lang="pt-PT" sz="1100" b="1"/>
              <a:t>Low-Intermediate-Frequency (Low-IF)</a:t>
            </a:r>
            <a:r>
              <a:rPr lang="pt-PT" sz="1100"/>
              <a:t> approach intentionally </a:t>
            </a:r>
            <a:r>
              <a:rPr lang="pt-PT" sz="1100" b="1"/>
              <a:t>shifts the signal away from DC</a:t>
            </a:r>
            <a:r>
              <a:rPr lang="pt-PT" sz="1100"/>
              <a:t>.</a:t>
            </a:r>
            <a:endParaRPr/>
          </a:p>
        </p:txBody>
      </p:sp>
      <p:sp>
        <p:nvSpPr>
          <p:cNvPr id="150" name="Google Shape;150;g38c1c1d7a86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c1c1d7a86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PT"/>
              <a:t>the breathing motion signal is buried in flicker noise and DC offsets.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g38c1c1d7a86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c1c1d7a86_2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PT"/>
              <a:t>the breathing motion signal is buried in flicker noise and DC offsets.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g38c1c1d7a86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9009aa244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g369009aa24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c1c1d7a86_2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g38c1c1d7a86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9009aa244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369009aa24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9009aa244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369009aa24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9009aa244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g369009aa24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9009aa244_0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g369009aa244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9009aa244_0_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g369009aa244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9009aa244_0_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g369009aa244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o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Objet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c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Dupl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e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nalog.com/media/cn/technical-documentation/user-guides/ad9364_reference_manual_ug-673.pdf" TargetMode="External"/><Relationship Id="rId5" Type="http://schemas.openxmlformats.org/officeDocument/2006/relationships/hyperlink" Target="https://www.analog.com/media/en/technical-documentation/data-sheets/ad9364.pdf" TargetMode="Externa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66577"/>
            <a:ext cx="9144000" cy="1329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pt-PT" b="1"/>
              <a:t>Review Meeting 6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2626895"/>
            <a:ext cx="9144000" cy="1008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PT"/>
              <a:t>Build your own Radar System, Project Course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2968557" y="3766651"/>
            <a:ext cx="6255000" cy="19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PT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r>
              <a:rPr lang="pt-PT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PT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Bingxue Xu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PT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Nikita Dubrovskyi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PT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Rafael Rodrigues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PT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Stefano Crescenza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968557" y="6117105"/>
            <a:ext cx="625488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PT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Tuesday, </a:t>
            </a:r>
            <a:r>
              <a:rPr lang="pt-PT" sz="2000">
                <a:solidFill>
                  <a:schemeClr val="dk1"/>
                </a:solidFill>
              </a:rPr>
              <a:t>14</a:t>
            </a:r>
            <a:r>
              <a:rPr lang="pt-PT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/10/2025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PT" b="1"/>
              <a:t>Week Achievements: SDR Radar</a:t>
            </a:r>
            <a:endParaRPr b="1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PT" sz="2400" dirty="0" err="1"/>
              <a:t>Measure</a:t>
            </a:r>
            <a:r>
              <a:rPr lang="pt-PT" sz="2400" dirty="0"/>
              <a:t> </a:t>
            </a:r>
            <a:r>
              <a:rPr lang="pt-PT" sz="2400" dirty="0" err="1"/>
              <a:t>velocity</a:t>
            </a:r>
            <a:r>
              <a:rPr lang="pt-PT" sz="2400" dirty="0"/>
              <a:t> </a:t>
            </a:r>
            <a:r>
              <a:rPr lang="pt-PT" sz="2400" dirty="0" err="1"/>
              <a:t>with</a:t>
            </a:r>
            <a:r>
              <a:rPr lang="pt-PT" sz="2400" dirty="0"/>
              <a:t> </a:t>
            </a:r>
            <a:r>
              <a:rPr lang="pt-PT" sz="2400" dirty="0" err="1"/>
              <a:t>Power</a:t>
            </a:r>
            <a:r>
              <a:rPr lang="pt-PT" sz="2400" dirty="0"/>
              <a:t> </a:t>
            </a:r>
            <a:r>
              <a:rPr lang="pt-PT" sz="2400" dirty="0" err="1"/>
              <a:t>Amplifier</a:t>
            </a:r>
            <a:r>
              <a:rPr lang="pt-PT" sz="2400" dirty="0"/>
              <a:t>.</a:t>
            </a:r>
            <a:endParaRPr dirty="0"/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PT" sz="2400" dirty="0" err="1"/>
              <a:t>Measure</a:t>
            </a:r>
            <a:r>
              <a:rPr lang="pt-PT" sz="2400" dirty="0"/>
              <a:t> </a:t>
            </a:r>
            <a:r>
              <a:rPr lang="pt-PT" sz="2400" dirty="0" err="1"/>
              <a:t>velocity</a:t>
            </a:r>
            <a:r>
              <a:rPr lang="pt-PT" sz="2400" dirty="0"/>
              <a:t> </a:t>
            </a:r>
            <a:r>
              <a:rPr lang="pt-PT" sz="2400" dirty="0" err="1"/>
              <a:t>without</a:t>
            </a:r>
            <a:r>
              <a:rPr lang="pt-PT" sz="2400" dirty="0"/>
              <a:t> </a:t>
            </a:r>
            <a:r>
              <a:rPr lang="pt-PT" sz="2400" dirty="0" err="1"/>
              <a:t>Power</a:t>
            </a:r>
            <a:r>
              <a:rPr lang="pt-PT" sz="2400" dirty="0"/>
              <a:t> </a:t>
            </a:r>
            <a:r>
              <a:rPr lang="pt-PT" sz="2400" dirty="0" err="1"/>
              <a:t>Amplifier</a:t>
            </a:r>
            <a:r>
              <a:rPr lang="pt-PT" sz="2400" dirty="0"/>
              <a:t>.</a:t>
            </a:r>
            <a:endParaRPr sz="2400" dirty="0"/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228600" marR="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PT" sz="2400" dirty="0"/>
              <a:t>Monitor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breathing</a:t>
            </a:r>
            <a:r>
              <a:rPr lang="pt-PT" sz="2400" dirty="0"/>
              <a:t> </a:t>
            </a:r>
            <a:r>
              <a:rPr lang="pt-PT" sz="2400" dirty="0" err="1"/>
              <a:t>pattern</a:t>
            </a:r>
            <a:r>
              <a:rPr lang="pt-PT" sz="2400" dirty="0"/>
              <a:t> </a:t>
            </a:r>
            <a:r>
              <a:rPr lang="pt-PT" sz="2400" dirty="0" err="1"/>
              <a:t>of</a:t>
            </a:r>
            <a:r>
              <a:rPr lang="pt-PT" sz="2400" dirty="0"/>
              <a:t> </a:t>
            </a:r>
            <a:r>
              <a:rPr lang="pt-PT" sz="2400" dirty="0" err="1"/>
              <a:t>an</a:t>
            </a:r>
            <a:r>
              <a:rPr lang="pt-PT" sz="2400" dirty="0"/>
              <a:t> individual </a:t>
            </a:r>
            <a:r>
              <a:rPr lang="pt-PT" sz="2400" dirty="0" err="1"/>
              <a:t>using</a:t>
            </a:r>
            <a:r>
              <a:rPr lang="pt-PT" sz="2400" dirty="0"/>
              <a:t> </a:t>
            </a:r>
            <a:r>
              <a:rPr lang="pt-PT" sz="2400" dirty="0" err="1"/>
              <a:t>Low</a:t>
            </a:r>
            <a:r>
              <a:rPr lang="pt-PT" sz="2400" dirty="0"/>
              <a:t>-IF CW </a:t>
            </a:r>
            <a:r>
              <a:rPr lang="pt-PT" sz="2400" dirty="0" err="1"/>
              <a:t>mode</a:t>
            </a:r>
            <a:endParaRPr sz="2400" dirty="0"/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228600" marR="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PT" sz="2400" dirty="0"/>
              <a:t>Monitor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breathing</a:t>
            </a:r>
            <a:r>
              <a:rPr lang="pt-PT" sz="2400" dirty="0"/>
              <a:t> </a:t>
            </a:r>
            <a:r>
              <a:rPr lang="pt-PT" sz="2400" dirty="0" err="1"/>
              <a:t>pattern</a:t>
            </a:r>
            <a:r>
              <a:rPr lang="pt-PT" sz="2400" dirty="0"/>
              <a:t> </a:t>
            </a:r>
            <a:r>
              <a:rPr lang="pt-PT" sz="2400" dirty="0" err="1"/>
              <a:t>of</a:t>
            </a:r>
            <a:r>
              <a:rPr lang="pt-PT" sz="2400" dirty="0"/>
              <a:t> </a:t>
            </a:r>
            <a:r>
              <a:rPr lang="pt-PT" sz="2400" dirty="0" err="1"/>
              <a:t>an</a:t>
            </a:r>
            <a:r>
              <a:rPr lang="pt-PT" sz="2400" dirty="0"/>
              <a:t> individual </a:t>
            </a:r>
            <a:r>
              <a:rPr lang="pt-PT" sz="2400" dirty="0" err="1"/>
              <a:t>using</a:t>
            </a:r>
            <a:r>
              <a:rPr lang="pt-PT" sz="2400" dirty="0"/>
              <a:t> CW </a:t>
            </a:r>
            <a:r>
              <a:rPr lang="pt-PT" sz="2400" dirty="0" err="1"/>
              <a:t>mode</a:t>
            </a:r>
            <a:endParaRPr sz="2400" dirty="0"/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228600" marR="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PT" sz="2400" dirty="0"/>
              <a:t>Range </a:t>
            </a:r>
            <a:r>
              <a:rPr lang="pt-PT" sz="2400" dirty="0" err="1"/>
              <a:t>Measurement</a:t>
            </a:r>
            <a:r>
              <a:rPr lang="pt-PT" sz="2400" dirty="0"/>
              <a:t> in SFCW </a:t>
            </a:r>
            <a:r>
              <a:rPr lang="pt-PT" sz="2400" dirty="0" err="1"/>
              <a:t>Mode</a:t>
            </a:r>
            <a:endParaRPr sz="240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8a881c85f_1_16"/>
          <p:cNvSpPr txBox="1"/>
          <p:nvPr/>
        </p:nvSpPr>
        <p:spPr>
          <a:xfrm>
            <a:off x="0" y="138400"/>
            <a:ext cx="121920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</a:rPr>
              <a:t>1. Measure velocity with Power Amplifier</a:t>
            </a:r>
            <a:endParaRPr/>
          </a:p>
        </p:txBody>
      </p:sp>
      <p:pic>
        <p:nvPicPr>
          <p:cNvPr id="103" name="Google Shape;103;g368a881c85f_1_16" title="Norm1_test1_2_cw_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81224"/>
            <a:ext cx="6117875" cy="4586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368a881c85f_1_16" title="Norm1_test3_cw_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4125" y="1681250"/>
            <a:ext cx="6117875" cy="458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c1c1d7a86_2_12"/>
          <p:cNvSpPr txBox="1"/>
          <p:nvPr/>
        </p:nvSpPr>
        <p:spPr>
          <a:xfrm>
            <a:off x="0" y="138400"/>
            <a:ext cx="121920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</a:rPr>
              <a:t>1. Measure velocity with Power Amplifier</a:t>
            </a:r>
            <a:endParaRPr/>
          </a:p>
        </p:txBody>
      </p:sp>
      <p:pic>
        <p:nvPicPr>
          <p:cNvPr id="110" name="Google Shape;110;g38c1c1d7a86_2_12" title="Norm1_test5_cw_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81200"/>
            <a:ext cx="6116401" cy="458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8c1c1d7a86_2_12" title="Norm1_test7_cw_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3200" y="1681200"/>
            <a:ext cx="6116401" cy="458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c1c1d7a86_2_5"/>
          <p:cNvSpPr txBox="1"/>
          <p:nvPr/>
        </p:nvSpPr>
        <p:spPr>
          <a:xfrm>
            <a:off x="0" y="138400"/>
            <a:ext cx="121920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</a:rPr>
              <a:t>2. Measure velocity without Power Amplifier</a:t>
            </a:r>
            <a:endParaRPr/>
          </a:p>
        </p:txBody>
      </p:sp>
      <p:pic>
        <p:nvPicPr>
          <p:cNvPr id="117" name="Google Shape;117;g38c1c1d7a86_2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81200"/>
            <a:ext cx="6116401" cy="458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8c1c1d7a86_2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3200" y="1681200"/>
            <a:ext cx="6116401" cy="458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c1c1d7a86_2_22"/>
          <p:cNvSpPr txBox="1"/>
          <p:nvPr/>
        </p:nvSpPr>
        <p:spPr>
          <a:xfrm>
            <a:off x="0" y="138400"/>
            <a:ext cx="121920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</a:rPr>
              <a:t>2. Measure velocity without Power Amplifier</a:t>
            </a:r>
            <a:endParaRPr/>
          </a:p>
        </p:txBody>
      </p:sp>
      <p:pic>
        <p:nvPicPr>
          <p:cNvPr id="124" name="Google Shape;124;g38c1c1d7a86_2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81200"/>
            <a:ext cx="6116401" cy="458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8c1c1d7a86_2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3200" y="1681200"/>
            <a:ext cx="6116401" cy="458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c1c1d7a86_2_37"/>
          <p:cNvSpPr txBox="1"/>
          <p:nvPr/>
        </p:nvSpPr>
        <p:spPr>
          <a:xfrm>
            <a:off x="0" y="138400"/>
            <a:ext cx="121920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</a:rPr>
              <a:t>Comparison CW with PA vs without PA</a:t>
            </a:r>
            <a:endParaRPr/>
          </a:p>
        </p:txBody>
      </p:sp>
      <p:pic>
        <p:nvPicPr>
          <p:cNvPr id="131" name="Google Shape;131;g38c1c1d7a86_2_37" title="Norm1_test3_cw_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81200"/>
            <a:ext cx="6117875" cy="458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8c1c1d7a86_2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3200" y="1681200"/>
            <a:ext cx="6116401" cy="458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c1c1d7a86_2_52"/>
          <p:cNvSpPr txBox="1"/>
          <p:nvPr/>
        </p:nvSpPr>
        <p:spPr>
          <a:xfrm>
            <a:off x="0" y="138400"/>
            <a:ext cx="121920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</a:rPr>
              <a:t>Comparison CW with PA vs without PA</a:t>
            </a:r>
            <a:endParaRPr/>
          </a:p>
        </p:txBody>
      </p:sp>
      <p:pic>
        <p:nvPicPr>
          <p:cNvPr id="138" name="Google Shape;138;g38c1c1d7a86_2_52" title="Norm1_test7_cw_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81200"/>
            <a:ext cx="6116401" cy="458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8c1c1d7a86_2_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3200" y="1681200"/>
            <a:ext cx="6116401" cy="458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c1c1d7a86_0_7"/>
          <p:cNvSpPr txBox="1"/>
          <p:nvPr/>
        </p:nvSpPr>
        <p:spPr>
          <a:xfrm>
            <a:off x="0" y="0"/>
            <a:ext cx="12192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3. Monitor the breathing pattern of an individual using Low-IF CW mode.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variation in the range due to breathing must be plotted as plotted in the lecture.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Perform the DFT on the data and observe whether you can identify the heart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rate. (hint: use the static phase term to calculate the range).</a:t>
            </a:r>
            <a:endParaRPr/>
          </a:p>
        </p:txBody>
      </p:sp>
      <p:pic>
        <p:nvPicPr>
          <p:cNvPr id="145" name="Google Shape;145;g38c1c1d7a86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2950" y="202800"/>
            <a:ext cx="2008170" cy="84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8c1c1d7a86_0_7" title="phase_sig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681200"/>
            <a:ext cx="6116401" cy="458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8c1c1d7a86_0_7" title="fft_normalize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3200" y="1681200"/>
            <a:ext cx="6116401" cy="458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c1c1d7a86_2_73"/>
          <p:cNvSpPr txBox="1"/>
          <p:nvPr/>
        </p:nvSpPr>
        <p:spPr>
          <a:xfrm>
            <a:off x="0" y="0"/>
            <a:ext cx="12192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3. Monitor the breathing pattern of an individual using Low-IF CW mode.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variation in the range due to breathing must be plotted as plotted in the lecture.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Perform the DFT on the data and observe whether you can identify the heart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rate. (hint: use the static phase term to calculate the range).</a:t>
            </a:r>
            <a:endParaRPr/>
          </a:p>
        </p:txBody>
      </p:sp>
      <p:pic>
        <p:nvPicPr>
          <p:cNvPr id="153" name="Google Shape;153;g38c1c1d7a86_2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2950" y="202800"/>
            <a:ext cx="2008170" cy="84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8c1c1d7a86_2_73" title="range_vari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99100"/>
            <a:ext cx="7344798" cy="55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8c1c1d7a86_2_73"/>
          <p:cNvSpPr txBox="1"/>
          <p:nvPr/>
        </p:nvSpPr>
        <p:spPr>
          <a:xfrm>
            <a:off x="7100413" y="2982275"/>
            <a:ext cx="4818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/>
              <a:t>Breathing Rate: 8.35 </a:t>
            </a:r>
            <a:r>
              <a:rPr lang="pt-PT" sz="2000">
                <a:solidFill>
                  <a:schemeClr val="dk1"/>
                </a:solidFill>
              </a:rPr>
              <a:t>breaths per minute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/>
              <a:t>Heart Rate*: 33.40 </a:t>
            </a:r>
            <a:r>
              <a:rPr lang="pt-PT" sz="2000">
                <a:solidFill>
                  <a:schemeClr val="dk1"/>
                </a:solidFill>
              </a:rPr>
              <a:t>beats per minute</a:t>
            </a:r>
            <a:endParaRPr sz="2000"/>
          </a:p>
        </p:txBody>
      </p:sp>
      <p:sp>
        <p:nvSpPr>
          <p:cNvPr id="156" name="Google Shape;156;g38c1c1d7a86_2_73"/>
          <p:cNvSpPr txBox="1"/>
          <p:nvPr/>
        </p:nvSpPr>
        <p:spPr>
          <a:xfrm>
            <a:off x="7100413" y="4733825"/>
            <a:ext cx="4818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/>
              <a:t>(*) considering the </a:t>
            </a:r>
            <a:r>
              <a:rPr lang="pt-PT" sz="2000">
                <a:solidFill>
                  <a:schemeClr val="dk1"/>
                </a:solidFill>
              </a:rPr>
              <a:t>Respiratory Sinus Arrhythmia (RSA)</a:t>
            </a:r>
            <a:r>
              <a:rPr lang="pt-PT" sz="2000"/>
              <a:t> phenomenon with an average standard 1:4 ratio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c1c1d7a86_0_17"/>
          <p:cNvSpPr txBox="1"/>
          <p:nvPr/>
        </p:nvSpPr>
        <p:spPr>
          <a:xfrm>
            <a:off x="0" y="0"/>
            <a:ext cx="12192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4. Monitor the breathing pattern of an individual using CW mode.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a. Do you see any reasonable data?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b. If not, give a reason as to why the breathing pattern is not observed in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mode?</a:t>
            </a:r>
            <a:endParaRPr/>
          </a:p>
        </p:txBody>
      </p:sp>
      <p:pic>
        <p:nvPicPr>
          <p:cNvPr id="162" name="Google Shape;162;g38c1c1d7a86_0_17" title="fft_normaliz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81200"/>
            <a:ext cx="6116401" cy="458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8c1c1d7a86_0_17" title="phase_sig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3200" y="1681200"/>
            <a:ext cx="6116401" cy="458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45;g38c1c1d7a86_0_7">
            <a:extLst>
              <a:ext uri="{FF2B5EF4-FFF2-40B4-BE49-F238E27FC236}">
                <a16:creationId xmlns:a16="http://schemas.microsoft.com/office/drawing/2014/main" id="{835376E5-C9BC-FA01-F4C2-F9BD0D9450A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2950" y="202800"/>
            <a:ext cx="2008170" cy="84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c1c1d7a86_2_63"/>
          <p:cNvSpPr txBox="1"/>
          <p:nvPr/>
        </p:nvSpPr>
        <p:spPr>
          <a:xfrm>
            <a:off x="0" y="0"/>
            <a:ext cx="12192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4. Monitor the breathing pattern of an individual using CW mode.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a. Do you see any reasonable data?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b. If not, give a reason as to why the breathing pattern is not observed in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mode?</a:t>
            </a:r>
            <a:endParaRPr/>
          </a:p>
        </p:txBody>
      </p:sp>
      <p:pic>
        <p:nvPicPr>
          <p:cNvPr id="169" name="Google Shape;169;g38c1c1d7a86_2_63" title="range_vari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9100"/>
            <a:ext cx="7344798" cy="55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8c1c1d7a86_2_63"/>
          <p:cNvSpPr txBox="1"/>
          <p:nvPr/>
        </p:nvSpPr>
        <p:spPr>
          <a:xfrm>
            <a:off x="7183238" y="2968475"/>
            <a:ext cx="4818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/>
              <a:t>Breathing Rate: 5.47 </a:t>
            </a:r>
            <a:r>
              <a:rPr lang="pt-PT" sz="2000">
                <a:solidFill>
                  <a:schemeClr val="dk1"/>
                </a:solidFill>
              </a:rPr>
              <a:t>breaths per minute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/>
              <a:t>Heart Rate*: 21.88 </a:t>
            </a:r>
            <a:r>
              <a:rPr lang="pt-PT" sz="2000">
                <a:solidFill>
                  <a:schemeClr val="dk1"/>
                </a:solidFill>
              </a:rPr>
              <a:t>beats per minute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71" name="Google Shape;171;g38c1c1d7a86_2_63"/>
          <p:cNvSpPr txBox="1"/>
          <p:nvPr/>
        </p:nvSpPr>
        <p:spPr>
          <a:xfrm>
            <a:off x="7100413" y="4733825"/>
            <a:ext cx="4818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/>
              <a:t>(*) considering the </a:t>
            </a:r>
            <a:r>
              <a:rPr lang="pt-PT" sz="2000">
                <a:solidFill>
                  <a:schemeClr val="dk1"/>
                </a:solidFill>
              </a:rPr>
              <a:t>Respiratory Sinus Arrhythmia (RSA)</a:t>
            </a:r>
            <a:r>
              <a:rPr lang="pt-PT" sz="2000"/>
              <a:t> phenomenon with an average standard 1:4 ratio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9009aa244_0_25"/>
          <p:cNvSpPr txBox="1"/>
          <p:nvPr/>
        </p:nvSpPr>
        <p:spPr>
          <a:xfrm>
            <a:off x="0" y="138400"/>
            <a:ext cx="121920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</a:rPr>
              <a:t>5. Range Measurement in SFCW Mode - </a:t>
            </a:r>
            <a:r>
              <a:rPr lang="pt-PT" sz="2400" b="1">
                <a:solidFill>
                  <a:schemeClr val="dk1"/>
                </a:solidFill>
              </a:rPr>
              <a:t>System Constraints</a:t>
            </a:r>
            <a:endParaRPr b="1"/>
          </a:p>
        </p:txBody>
      </p:sp>
      <p:sp>
        <p:nvSpPr>
          <p:cNvPr id="177" name="Google Shape;177;g369009aa244_0_25"/>
          <p:cNvSpPr txBox="1">
            <a:spLocks noGrp="1"/>
          </p:cNvSpPr>
          <p:nvPr>
            <p:ph type="body" idx="1"/>
          </p:nvPr>
        </p:nvSpPr>
        <p:spPr>
          <a:xfrm>
            <a:off x="838200" y="1080425"/>
            <a:ext cx="10515600" cy="536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300" b="1" dirty="0"/>
              <a:t>RF </a:t>
            </a:r>
            <a:r>
              <a:rPr lang="pt-PT" sz="2300" b="1" dirty="0" err="1"/>
              <a:t>Capabilities</a:t>
            </a:r>
            <a:r>
              <a:rPr lang="pt-PT" sz="2300" b="1" dirty="0"/>
              <a:t>:</a:t>
            </a:r>
            <a:endParaRPr sz="2300" b="1" dirty="0"/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PT" sz="2300" dirty="0"/>
              <a:t>70 MHz to 6 GHz </a:t>
            </a:r>
            <a:r>
              <a:rPr lang="pt-PT" sz="2300" dirty="0" err="1"/>
              <a:t>frequency</a:t>
            </a:r>
            <a:r>
              <a:rPr lang="pt-PT" sz="2300" dirty="0"/>
              <a:t> range</a:t>
            </a:r>
            <a:endParaRPr sz="2300" dirty="0"/>
          </a:p>
          <a:p>
            <a:pPr marL="914400" lvl="1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PT" sz="2300" dirty="0" err="1"/>
              <a:t>affected</a:t>
            </a:r>
            <a:r>
              <a:rPr lang="pt-PT" sz="2300" dirty="0"/>
              <a:t> </a:t>
            </a:r>
            <a:r>
              <a:rPr lang="pt-PT" sz="2300" dirty="0" err="1"/>
              <a:t>parameters</a:t>
            </a:r>
            <a:r>
              <a:rPr lang="pt-PT" sz="2300" dirty="0"/>
              <a:t>: </a:t>
            </a:r>
            <a:r>
              <a:rPr lang="pt-PT" sz="2300" dirty="0">
                <a:solidFill>
                  <a:srgbClr val="FF0000"/>
                </a:solidFill>
              </a:rPr>
              <a:t>f0, </a:t>
            </a:r>
            <a:r>
              <a:rPr lang="pt-PT" sz="2300" dirty="0" err="1">
                <a:solidFill>
                  <a:srgbClr val="FF0000"/>
                </a:solidFill>
              </a:rPr>
              <a:t>df</a:t>
            </a:r>
            <a:r>
              <a:rPr lang="pt-PT" sz="2300" dirty="0">
                <a:solidFill>
                  <a:srgbClr val="FF0000"/>
                </a:solidFill>
              </a:rPr>
              <a:t>, </a:t>
            </a:r>
            <a:r>
              <a:rPr lang="pt-PT" sz="2300" dirty="0" err="1">
                <a:solidFill>
                  <a:srgbClr val="FF0000"/>
                </a:solidFill>
              </a:rPr>
              <a:t>Nf</a:t>
            </a:r>
            <a:endParaRPr sz="2300" dirty="0">
              <a:solidFill>
                <a:srgbClr val="FF0000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dirty="0"/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PT" sz="2300" dirty="0" err="1"/>
              <a:t>Up</a:t>
            </a:r>
            <a:r>
              <a:rPr lang="pt-PT" sz="2300" dirty="0"/>
              <a:t> to 56 MHz </a:t>
            </a:r>
            <a:r>
              <a:rPr lang="pt-PT" sz="2300" dirty="0" err="1"/>
              <a:t>bandwidth</a:t>
            </a:r>
            <a:r>
              <a:rPr lang="pt-PT" sz="2300" dirty="0"/>
              <a:t> (</a:t>
            </a:r>
            <a:r>
              <a:rPr lang="pt-PT" sz="2300" dirty="0" err="1"/>
              <a:t>instantaneous</a:t>
            </a:r>
            <a:r>
              <a:rPr lang="pt-PT" sz="2300" dirty="0"/>
              <a:t> BW)</a:t>
            </a:r>
            <a:endParaRPr sz="2300" dirty="0"/>
          </a:p>
          <a:p>
            <a:pPr marL="914400" lvl="1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PT" sz="2300" dirty="0" err="1"/>
              <a:t>affected</a:t>
            </a:r>
            <a:r>
              <a:rPr lang="pt-PT" sz="2300" dirty="0"/>
              <a:t> </a:t>
            </a:r>
            <a:r>
              <a:rPr lang="pt-PT" sz="2300" dirty="0" err="1"/>
              <a:t>parameters</a:t>
            </a:r>
            <a:r>
              <a:rPr lang="pt-PT" sz="2300" dirty="0"/>
              <a:t>: </a:t>
            </a:r>
            <a:r>
              <a:rPr lang="pt-PT" sz="2300" dirty="0" err="1">
                <a:solidFill>
                  <a:srgbClr val="FF0000"/>
                </a:solidFill>
              </a:rPr>
              <a:t>df</a:t>
            </a:r>
            <a:endParaRPr sz="23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300" b="1" dirty="0" err="1"/>
              <a:t>Synchronization</a:t>
            </a:r>
            <a:r>
              <a:rPr lang="pt-PT" sz="2300" b="1" dirty="0"/>
              <a:t>:</a:t>
            </a:r>
            <a:endParaRPr sz="2300" b="1" dirty="0"/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PT" sz="2300" dirty="0"/>
              <a:t>10 MHz </a:t>
            </a:r>
            <a:r>
              <a:rPr lang="pt-PT" sz="2300" dirty="0" err="1"/>
              <a:t>clock</a:t>
            </a:r>
            <a:r>
              <a:rPr lang="pt-PT" sz="2300" dirty="0"/>
              <a:t> </a:t>
            </a:r>
            <a:r>
              <a:rPr lang="pt-PT" sz="2300" dirty="0" err="1"/>
              <a:t>reference</a:t>
            </a:r>
            <a:r>
              <a:rPr lang="pt-PT" sz="2300" dirty="0"/>
              <a:t> </a:t>
            </a:r>
            <a:r>
              <a:rPr lang="pt-PT" sz="2300" dirty="0" err="1"/>
              <a:t>or</a:t>
            </a:r>
            <a:r>
              <a:rPr lang="pt-PT" sz="2300" dirty="0"/>
              <a:t> PPS time </a:t>
            </a:r>
            <a:r>
              <a:rPr lang="pt-PT" sz="2300" dirty="0" err="1"/>
              <a:t>reference</a:t>
            </a:r>
            <a:r>
              <a:rPr lang="pt-PT" sz="2300" dirty="0"/>
              <a:t> </a:t>
            </a:r>
            <a:endParaRPr sz="2300" dirty="0"/>
          </a:p>
          <a:p>
            <a:pPr marL="914400" lvl="1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PT" sz="2300" dirty="0" err="1"/>
              <a:t>affected</a:t>
            </a:r>
            <a:r>
              <a:rPr lang="pt-PT" sz="2300" dirty="0"/>
              <a:t> </a:t>
            </a:r>
            <a:r>
              <a:rPr lang="pt-PT" sz="2300" dirty="0" err="1"/>
              <a:t>parameters</a:t>
            </a:r>
            <a:r>
              <a:rPr lang="pt-PT" sz="2300" dirty="0"/>
              <a:t>: </a:t>
            </a:r>
            <a:r>
              <a:rPr lang="pt-PT" sz="2300" dirty="0" err="1">
                <a:solidFill>
                  <a:srgbClr val="FF0000"/>
                </a:solidFill>
              </a:rPr>
              <a:t>Ts</a:t>
            </a:r>
            <a:r>
              <a:rPr lang="pt-PT" sz="2300" dirty="0">
                <a:solidFill>
                  <a:srgbClr val="FF0000"/>
                </a:solidFill>
              </a:rPr>
              <a:t> </a:t>
            </a:r>
            <a:r>
              <a:rPr lang="pt-PT" sz="2300" dirty="0" err="1">
                <a:solidFill>
                  <a:srgbClr val="FF0000"/>
                </a:solidFill>
              </a:rPr>
              <a:t>and</a:t>
            </a:r>
            <a:r>
              <a:rPr lang="pt-PT" sz="2300" dirty="0">
                <a:solidFill>
                  <a:srgbClr val="FF0000"/>
                </a:solidFill>
              </a:rPr>
              <a:t> </a:t>
            </a:r>
            <a:r>
              <a:rPr lang="pt-PT" sz="2300" dirty="0" err="1">
                <a:solidFill>
                  <a:srgbClr val="FF0000"/>
                </a:solidFill>
              </a:rPr>
              <a:t>the</a:t>
            </a:r>
            <a:r>
              <a:rPr lang="pt-PT" sz="2300" dirty="0">
                <a:solidFill>
                  <a:srgbClr val="FF0000"/>
                </a:solidFill>
              </a:rPr>
              <a:t> </a:t>
            </a:r>
            <a:r>
              <a:rPr lang="pt-PT" sz="2300" dirty="0" err="1">
                <a:solidFill>
                  <a:srgbClr val="FF0000"/>
                </a:solidFill>
              </a:rPr>
              <a:t>whole</a:t>
            </a:r>
            <a:r>
              <a:rPr lang="pt-PT" sz="2300" dirty="0">
                <a:solidFill>
                  <a:srgbClr val="FF0000"/>
                </a:solidFill>
              </a:rPr>
              <a:t> </a:t>
            </a:r>
            <a:r>
              <a:rPr lang="pt-PT" sz="2300" dirty="0" err="1">
                <a:solidFill>
                  <a:srgbClr val="FF0000"/>
                </a:solidFill>
              </a:rPr>
              <a:t>system</a:t>
            </a:r>
            <a:endParaRPr sz="23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300" b="1" dirty="0" err="1"/>
              <a:t>Conversion</a:t>
            </a:r>
            <a:r>
              <a:rPr lang="pt-PT" sz="2300" b="1" dirty="0"/>
              <a:t> Performance </a:t>
            </a:r>
            <a:r>
              <a:rPr lang="pt-PT" sz="2300" b="1" dirty="0" err="1"/>
              <a:t>and</a:t>
            </a:r>
            <a:r>
              <a:rPr lang="pt-PT" sz="2300" b="1" dirty="0"/>
              <a:t> </a:t>
            </a:r>
            <a:r>
              <a:rPr lang="pt-PT" sz="2300" b="1" dirty="0" err="1"/>
              <a:t>Clocks</a:t>
            </a:r>
            <a:r>
              <a:rPr lang="pt-PT" sz="2300" b="1" dirty="0"/>
              <a:t>:</a:t>
            </a:r>
            <a:endParaRPr sz="2300" b="1" dirty="0"/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PT" sz="2300" dirty="0"/>
              <a:t>ADC Sample Rate (Max.): 61.44 MS/s</a:t>
            </a:r>
            <a:endParaRPr sz="23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dirty="0"/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PT" sz="2300" dirty="0" err="1"/>
              <a:t>Frequency</a:t>
            </a:r>
            <a:r>
              <a:rPr lang="pt-PT" sz="2300" dirty="0"/>
              <a:t> </a:t>
            </a:r>
            <a:r>
              <a:rPr lang="pt-PT" sz="2300" dirty="0" err="1"/>
              <a:t>Accuracy</a:t>
            </a:r>
            <a:r>
              <a:rPr lang="pt-PT" sz="2300" dirty="0"/>
              <a:t>: ±2.0 </a:t>
            </a:r>
            <a:r>
              <a:rPr lang="pt-PT" sz="2300" dirty="0" err="1"/>
              <a:t>ppm</a:t>
            </a:r>
            <a:endParaRPr sz="2300" dirty="0"/>
          </a:p>
          <a:p>
            <a:pPr marL="914400" lvl="1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pt-PT" sz="2300" dirty="0" err="1"/>
              <a:t>affected</a:t>
            </a:r>
            <a:r>
              <a:rPr lang="pt-PT" sz="2300" dirty="0"/>
              <a:t> </a:t>
            </a:r>
            <a:r>
              <a:rPr lang="pt-PT" sz="2300" dirty="0" err="1"/>
              <a:t>parameters</a:t>
            </a:r>
            <a:r>
              <a:rPr lang="pt-PT" sz="2300" dirty="0"/>
              <a:t>: </a:t>
            </a:r>
            <a:r>
              <a:rPr lang="pt-PT" sz="2300" dirty="0" err="1">
                <a:solidFill>
                  <a:srgbClr val="FF0000"/>
                </a:solidFill>
              </a:rPr>
              <a:t>the</a:t>
            </a:r>
            <a:r>
              <a:rPr lang="pt-PT" sz="2300" dirty="0">
                <a:solidFill>
                  <a:srgbClr val="FF0000"/>
                </a:solidFill>
              </a:rPr>
              <a:t> </a:t>
            </a:r>
            <a:r>
              <a:rPr lang="pt-PT" sz="2300" dirty="0" err="1">
                <a:solidFill>
                  <a:srgbClr val="FF0000"/>
                </a:solidFill>
              </a:rPr>
              <a:t>whole</a:t>
            </a:r>
            <a:r>
              <a:rPr lang="pt-PT" sz="2300" dirty="0">
                <a:solidFill>
                  <a:srgbClr val="FF0000"/>
                </a:solidFill>
              </a:rPr>
              <a:t> </a:t>
            </a:r>
            <a:r>
              <a:rPr lang="pt-PT" sz="2300" dirty="0" err="1">
                <a:solidFill>
                  <a:srgbClr val="FF0000"/>
                </a:solidFill>
              </a:rPr>
              <a:t>system</a:t>
            </a:r>
            <a:endParaRPr sz="27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0767EEC-9709-7DF6-3588-B472D57A1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352" y="3885827"/>
            <a:ext cx="4709568" cy="108213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A80A895-922E-DFCB-4506-FDF1BFD53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7" y="923860"/>
            <a:ext cx="5043370" cy="259758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DECE16-D17C-113A-BB87-0CEA09091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109" y="5551955"/>
            <a:ext cx="2400508" cy="123454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5301669-F7E3-4BC3-3C35-8BE8D03F6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13" y="4335510"/>
            <a:ext cx="5103839" cy="2522490"/>
          </a:xfrm>
          <a:prstGeom prst="rect">
            <a:avLst/>
          </a:prstGeom>
        </p:spPr>
      </p:pic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CC496DC7-06B9-7743-AFB2-B1B2DEFB6AF6}"/>
              </a:ext>
            </a:extLst>
          </p:cNvPr>
          <p:cNvSpPr/>
          <p:nvPr/>
        </p:nvSpPr>
        <p:spPr>
          <a:xfrm>
            <a:off x="2719734" y="3542658"/>
            <a:ext cx="522515" cy="820287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ABAA28C-79D6-E2EF-3B47-95573E79DFF6}"/>
              </a:ext>
            </a:extLst>
          </p:cNvPr>
          <p:cNvSpPr txBox="1"/>
          <p:nvPr/>
        </p:nvSpPr>
        <p:spPr>
          <a:xfrm>
            <a:off x="1264187" y="3622986"/>
            <a:ext cx="15854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dirty="0"/>
              <a:t>1D FFT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</a:p>
          <a:p>
            <a:pPr algn="ctr"/>
            <a:r>
              <a:rPr lang="pt-PT" dirty="0" err="1"/>
              <a:t>matrix</a:t>
            </a:r>
            <a:r>
              <a:rPr lang="pt-PT" dirty="0"/>
              <a:t> </a:t>
            </a:r>
            <a:r>
              <a:rPr lang="pt-PT" dirty="0" err="1"/>
              <a:t>rows</a:t>
            </a:r>
            <a:endParaRPr lang="pt-PT" dirty="0"/>
          </a:p>
        </p:txBody>
      </p:sp>
      <p:sp>
        <p:nvSpPr>
          <p:cNvPr id="15" name="Seta: Para Baixo 14">
            <a:extLst>
              <a:ext uri="{FF2B5EF4-FFF2-40B4-BE49-F238E27FC236}">
                <a16:creationId xmlns:a16="http://schemas.microsoft.com/office/drawing/2014/main" id="{10BD30A8-6A68-E4A2-8544-D88F1E5ED64A}"/>
              </a:ext>
            </a:extLst>
          </p:cNvPr>
          <p:cNvSpPr/>
          <p:nvPr/>
        </p:nvSpPr>
        <p:spPr>
          <a:xfrm>
            <a:off x="6588485" y="4739296"/>
            <a:ext cx="522515" cy="820287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3120FBA-947A-1A63-D845-4A251EA05D12}"/>
              </a:ext>
            </a:extLst>
          </p:cNvPr>
          <p:cNvSpPr txBox="1"/>
          <p:nvPr/>
        </p:nvSpPr>
        <p:spPr>
          <a:xfrm>
            <a:off x="9062018" y="580483"/>
            <a:ext cx="14026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2800" b="1" dirty="0" err="1"/>
              <a:t>System</a:t>
            </a:r>
            <a:endParaRPr lang="pt-PT" sz="2800" b="1" dirty="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8988F0A-C0CF-A6A3-C8B8-FEFAF023DC12}"/>
              </a:ext>
            </a:extLst>
          </p:cNvPr>
          <p:cNvSpPr/>
          <p:nvPr/>
        </p:nvSpPr>
        <p:spPr>
          <a:xfrm>
            <a:off x="7583687" y="1153927"/>
            <a:ext cx="2127076" cy="11342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/>
              <a:t>Nf</a:t>
            </a:r>
            <a:r>
              <a:rPr lang="pt-PT" dirty="0"/>
              <a:t>=2 steps</a:t>
            </a:r>
          </a:p>
          <a:p>
            <a:pPr algn="ctr"/>
            <a:r>
              <a:rPr lang="pt-PT" dirty="0" err="1"/>
              <a:t>Ts</a:t>
            </a:r>
            <a:r>
              <a:rPr lang="pt-PT" dirty="0"/>
              <a:t>=200 </a:t>
            </a:r>
            <a:r>
              <a:rPr lang="pt-PT" dirty="0" err="1"/>
              <a:t>ms</a:t>
            </a:r>
            <a:endParaRPr lang="pt-PT" dirty="0"/>
          </a:p>
          <a:p>
            <a:pPr algn="ctr"/>
            <a:r>
              <a:rPr lang="pt-PT" dirty="0" err="1"/>
              <a:t>df</a:t>
            </a:r>
            <a:r>
              <a:rPr lang="pt-PT" dirty="0"/>
              <a:t>=50 MHz 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A6F7321-4B6D-04D2-8BC6-E0606CEABB3C}"/>
              </a:ext>
            </a:extLst>
          </p:cNvPr>
          <p:cNvSpPr/>
          <p:nvPr/>
        </p:nvSpPr>
        <p:spPr>
          <a:xfrm>
            <a:off x="9890982" y="1140874"/>
            <a:ext cx="2127076" cy="11342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/>
              <a:t>Nf</a:t>
            </a:r>
            <a:r>
              <a:rPr lang="pt-PT" dirty="0"/>
              <a:t>=4 steps</a:t>
            </a:r>
          </a:p>
          <a:p>
            <a:pPr algn="ctr"/>
            <a:r>
              <a:rPr lang="pt-PT" dirty="0" err="1"/>
              <a:t>Ts</a:t>
            </a:r>
            <a:r>
              <a:rPr lang="pt-PT" dirty="0"/>
              <a:t>=200 </a:t>
            </a:r>
            <a:r>
              <a:rPr lang="pt-PT" dirty="0" err="1"/>
              <a:t>ms</a:t>
            </a:r>
            <a:endParaRPr lang="pt-PT" dirty="0"/>
          </a:p>
          <a:p>
            <a:pPr algn="ctr"/>
            <a:r>
              <a:rPr lang="pt-PT" dirty="0" err="1"/>
              <a:t>df</a:t>
            </a:r>
            <a:r>
              <a:rPr lang="pt-PT" dirty="0"/>
              <a:t>=50 MHz 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5C1F1AA-882A-2B0B-281B-B332CA1028E8}"/>
              </a:ext>
            </a:extLst>
          </p:cNvPr>
          <p:cNvSpPr txBox="1"/>
          <p:nvPr/>
        </p:nvSpPr>
        <p:spPr>
          <a:xfrm>
            <a:off x="7661218" y="2331095"/>
            <a:ext cx="19720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200" dirty="0">
                <a:sym typeface="Wingdings" panose="05000000000000000000" pitchFamily="2" charset="2"/>
              </a:rPr>
              <a:t>f0max = 5,85 GHz &lt;= 6 GHz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6C2B98A-3744-B540-44DE-E7A2BF57ED0A}"/>
              </a:ext>
            </a:extLst>
          </p:cNvPr>
          <p:cNvSpPr txBox="1"/>
          <p:nvPr/>
        </p:nvSpPr>
        <p:spPr>
          <a:xfrm>
            <a:off x="10071906" y="2323595"/>
            <a:ext cx="1765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200" dirty="0">
                <a:sym typeface="Wingdings" panose="05000000000000000000" pitchFamily="2" charset="2"/>
              </a:rPr>
              <a:t>f0max = 6 GHz &lt;= 6 GHz</a:t>
            </a:r>
          </a:p>
        </p:txBody>
      </p:sp>
      <p:sp>
        <p:nvSpPr>
          <p:cNvPr id="26" name="Seta: Em Ângulo 25">
            <a:extLst>
              <a:ext uri="{FF2B5EF4-FFF2-40B4-BE49-F238E27FC236}">
                <a16:creationId xmlns:a16="http://schemas.microsoft.com/office/drawing/2014/main" id="{4322BB34-9C02-D31B-1BE4-3E8D33ED6755}"/>
              </a:ext>
            </a:extLst>
          </p:cNvPr>
          <p:cNvSpPr/>
          <p:nvPr/>
        </p:nvSpPr>
        <p:spPr>
          <a:xfrm rot="10800000">
            <a:off x="4922197" y="2292411"/>
            <a:ext cx="4968785" cy="887394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27" name="Seta: Em Ângulo Reto Para Cima 26">
            <a:extLst>
              <a:ext uri="{FF2B5EF4-FFF2-40B4-BE49-F238E27FC236}">
                <a16:creationId xmlns:a16="http://schemas.microsoft.com/office/drawing/2014/main" id="{2D2C5497-897B-BB28-E775-C8E39618F787}"/>
              </a:ext>
            </a:extLst>
          </p:cNvPr>
          <p:cNvSpPr/>
          <p:nvPr/>
        </p:nvSpPr>
        <p:spPr>
          <a:xfrm rot="5400000">
            <a:off x="3972897" y="3213383"/>
            <a:ext cx="1183127" cy="1465539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F1CBCD87-D809-F045-031C-6D02D0259B2A}"/>
              </a:ext>
            </a:extLst>
          </p:cNvPr>
          <p:cNvSpPr/>
          <p:nvPr/>
        </p:nvSpPr>
        <p:spPr>
          <a:xfrm>
            <a:off x="5437109" y="3751515"/>
            <a:ext cx="4273654" cy="2941115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6551F2A-AE12-5EF4-388A-36A8EFB39359}"/>
              </a:ext>
            </a:extLst>
          </p:cNvPr>
          <p:cNvSpPr txBox="1"/>
          <p:nvPr/>
        </p:nvSpPr>
        <p:spPr>
          <a:xfrm>
            <a:off x="9710763" y="4025809"/>
            <a:ext cx="2518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/>
              <a:t>N-step generalization</a:t>
            </a:r>
          </a:p>
          <a:p>
            <a:pPr algn="ctr"/>
            <a:r>
              <a:rPr lang="en-US" sz="1800" b="1" dirty="0"/>
              <a:t>via least squares</a:t>
            </a:r>
            <a:endParaRPr lang="pt-PT" sz="1800" b="1" dirty="0"/>
          </a:p>
        </p:txBody>
      </p:sp>
      <p:sp>
        <p:nvSpPr>
          <p:cNvPr id="38" name="Seta: Para a Esquerda e Para Cima 37">
            <a:extLst>
              <a:ext uri="{FF2B5EF4-FFF2-40B4-BE49-F238E27FC236}">
                <a16:creationId xmlns:a16="http://schemas.microsoft.com/office/drawing/2014/main" id="{7B2407F2-9A2B-55F4-02DE-0FCB64B7FD04}"/>
              </a:ext>
            </a:extLst>
          </p:cNvPr>
          <p:cNvSpPr/>
          <p:nvPr/>
        </p:nvSpPr>
        <p:spPr>
          <a:xfrm>
            <a:off x="9779129" y="4739296"/>
            <a:ext cx="1466045" cy="963038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Google Shape;182;g369009aa244_0_73">
            <a:extLst>
              <a:ext uri="{FF2B5EF4-FFF2-40B4-BE49-F238E27FC236}">
                <a16:creationId xmlns:a16="http://schemas.microsoft.com/office/drawing/2014/main" id="{329293C5-FBC4-C475-A820-46DE5EA134A0}"/>
              </a:ext>
            </a:extLst>
          </p:cNvPr>
          <p:cNvSpPr txBox="1"/>
          <p:nvPr/>
        </p:nvSpPr>
        <p:spPr>
          <a:xfrm>
            <a:off x="0" y="138400"/>
            <a:ext cx="121920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dirty="0">
                <a:solidFill>
                  <a:schemeClr val="dk1"/>
                </a:solidFill>
              </a:rPr>
              <a:t>5. Range </a:t>
            </a:r>
            <a:r>
              <a:rPr lang="pt-PT" sz="2400" dirty="0" err="1">
                <a:solidFill>
                  <a:schemeClr val="dk1"/>
                </a:solidFill>
              </a:rPr>
              <a:t>Measurement</a:t>
            </a:r>
            <a:r>
              <a:rPr lang="pt-PT" sz="2400" dirty="0">
                <a:solidFill>
                  <a:schemeClr val="dk1"/>
                </a:solidFill>
              </a:rPr>
              <a:t> in SFCW </a:t>
            </a:r>
            <a:r>
              <a:rPr lang="pt-PT" sz="2400" dirty="0" err="1">
                <a:solidFill>
                  <a:schemeClr val="dk1"/>
                </a:solidFill>
              </a:rPr>
              <a:t>Mode</a:t>
            </a:r>
            <a:r>
              <a:rPr lang="pt-PT" sz="2400" dirty="0">
                <a:solidFill>
                  <a:schemeClr val="dk1"/>
                </a:solidFill>
              </a:rPr>
              <a:t> - </a:t>
            </a:r>
            <a:r>
              <a:rPr lang="pt-PT" sz="2400" b="1" dirty="0" err="1">
                <a:solidFill>
                  <a:schemeClr val="dk1"/>
                </a:solidFill>
              </a:rPr>
              <a:t>Processing</a:t>
            </a:r>
            <a:r>
              <a:rPr lang="pt-PT" sz="2400" b="1" dirty="0">
                <a:solidFill>
                  <a:schemeClr val="dk1"/>
                </a:solidFill>
              </a:rPr>
              <a:t> </a:t>
            </a:r>
            <a:r>
              <a:rPr lang="pt-PT" sz="2400" b="1" dirty="0" err="1">
                <a:solidFill>
                  <a:schemeClr val="dk1"/>
                </a:solidFill>
              </a:rPr>
              <a:t>Approach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99909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c1c1d7a86_2_89"/>
          <p:cNvSpPr txBox="1"/>
          <p:nvPr/>
        </p:nvSpPr>
        <p:spPr>
          <a:xfrm>
            <a:off x="0" y="138400"/>
            <a:ext cx="121920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</a:rPr>
              <a:t>5. Range Measurement in SFCW Mode - </a:t>
            </a:r>
            <a:r>
              <a:rPr lang="pt-PT" sz="2400" b="1">
                <a:solidFill>
                  <a:schemeClr val="dk1"/>
                </a:solidFill>
              </a:rPr>
              <a:t>Simulations: Nf=2 steps, df=50 MHz</a:t>
            </a:r>
            <a:endParaRPr b="1"/>
          </a:p>
        </p:txBody>
      </p:sp>
      <p:pic>
        <p:nvPicPr>
          <p:cNvPr id="189" name="Google Shape;189;g38c1c1d7a86_2_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81200"/>
            <a:ext cx="6116398" cy="45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8c1c1d7a86_2_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3200" y="1681200"/>
            <a:ext cx="6116401" cy="45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9009aa244_0_16"/>
          <p:cNvSpPr txBox="1"/>
          <p:nvPr/>
        </p:nvSpPr>
        <p:spPr>
          <a:xfrm>
            <a:off x="0" y="138400"/>
            <a:ext cx="121920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</a:rPr>
              <a:t>5. Range Measurement in SFCW Mode - </a:t>
            </a:r>
            <a:r>
              <a:rPr lang="pt-PT" sz="2400" b="1">
                <a:solidFill>
                  <a:schemeClr val="dk1"/>
                </a:solidFill>
              </a:rPr>
              <a:t>Simulations: Nf=4 steps, df=50 MHz</a:t>
            </a:r>
            <a:endParaRPr b="1"/>
          </a:p>
        </p:txBody>
      </p:sp>
      <p:pic>
        <p:nvPicPr>
          <p:cNvPr id="196" name="Google Shape;196;g369009aa244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81200"/>
            <a:ext cx="6116398" cy="45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69009aa244_0_16" title="RTI_with_Rtrack_and_Rest_Ts100ms_Nf4_df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3200" y="1681200"/>
            <a:ext cx="6116399" cy="45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9009aa244_0_41"/>
          <p:cNvSpPr txBox="1"/>
          <p:nvPr/>
        </p:nvSpPr>
        <p:spPr>
          <a:xfrm>
            <a:off x="0" y="138400"/>
            <a:ext cx="121920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</a:rPr>
              <a:t>5. Range Measurement in SFCW Mode - </a:t>
            </a:r>
            <a:r>
              <a:rPr lang="pt-PT" sz="2400" b="1">
                <a:solidFill>
                  <a:schemeClr val="dk1"/>
                </a:solidFill>
              </a:rPr>
              <a:t>Real Measurements: GNU RADIO</a:t>
            </a:r>
            <a:endParaRPr b="1"/>
          </a:p>
        </p:txBody>
      </p:sp>
      <p:pic>
        <p:nvPicPr>
          <p:cNvPr id="3" name="Imagem 2" descr="Uma imagem com texto, captura de ecrã, diagrama, file&#10;&#10;Os conteúdos gerados por IA podem estar incorretos.">
            <a:extLst>
              <a:ext uri="{FF2B5EF4-FFF2-40B4-BE49-F238E27FC236}">
                <a16:creationId xmlns:a16="http://schemas.microsoft.com/office/drawing/2014/main" id="{2A468082-C90A-9D69-9D41-864A643FD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6172"/>
            <a:ext cx="12192000" cy="4885656"/>
          </a:xfrm>
          <a:prstGeom prst="rect">
            <a:avLst/>
          </a:prstGeom>
        </p:spPr>
      </p:pic>
      <p:sp>
        <p:nvSpPr>
          <p:cNvPr id="204" name="Google Shape;204;g369009aa244_0_41"/>
          <p:cNvSpPr txBox="1"/>
          <p:nvPr/>
        </p:nvSpPr>
        <p:spPr>
          <a:xfrm>
            <a:off x="152400" y="4049550"/>
            <a:ext cx="607050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>
                <a:solidFill>
                  <a:schemeClr val="dk1"/>
                </a:solidFill>
              </a:rPr>
              <a:t>def handle_msg(self, msg):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>
                <a:solidFill>
                  <a:schemeClr val="dk1"/>
                </a:solidFill>
              </a:rPr>
              <a:t>	freq = self.fc + self.current_step * self.step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>
                <a:solidFill>
                  <a:schemeClr val="dk1"/>
                </a:solidFill>
              </a:rPr>
              <a:t>	cmd = pmt.make_dict()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>
                <a:solidFill>
                  <a:schemeClr val="dk1"/>
                </a:solidFill>
              </a:rPr>
              <a:t>	cmd = pmt.dict_add(cmd, pmt.intern("freq"), pmt.from_double(freq))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>
                <a:solidFill>
                  <a:schemeClr val="dk1"/>
                </a:solidFill>
              </a:rPr>
              <a:t>	self.message_port_pub(pmt.intern("out"), cmd)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>
                <a:solidFill>
                  <a:schemeClr val="dk1"/>
                </a:solidFill>
              </a:rPr>
              <a:t>	self.current_step = (self.current_step + 1) % self.num_steps</a:t>
            </a:r>
            <a:endParaRPr sz="1300">
              <a:solidFill>
                <a:schemeClr val="dk1"/>
              </a:solidFill>
            </a:endParaRPr>
          </a:p>
        </p:txBody>
      </p:sp>
      <p:cxnSp>
        <p:nvCxnSpPr>
          <p:cNvPr id="205" name="Google Shape;205;g369009aa244_0_41"/>
          <p:cNvCxnSpPr/>
          <p:nvPr/>
        </p:nvCxnSpPr>
        <p:spPr>
          <a:xfrm flipH="1">
            <a:off x="2295225" y="3549950"/>
            <a:ext cx="870000" cy="62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6" name="Google Shape;206;g369009aa244_0_41"/>
          <p:cNvCxnSpPr/>
          <p:nvPr/>
        </p:nvCxnSpPr>
        <p:spPr>
          <a:xfrm flipH="1">
            <a:off x="3294300" y="2227925"/>
            <a:ext cx="906000" cy="101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7" name="Google Shape;207;g369009aa244_0_41"/>
          <p:cNvCxnSpPr>
            <a:cxnSpLocks/>
          </p:cNvCxnSpPr>
          <p:nvPr/>
        </p:nvCxnSpPr>
        <p:spPr>
          <a:xfrm flipH="1">
            <a:off x="1546860" y="2241981"/>
            <a:ext cx="1310640" cy="82125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" name="Google Shape;208;g369009aa244_0_41"/>
          <p:cNvCxnSpPr>
            <a:cxnSpLocks/>
          </p:cNvCxnSpPr>
          <p:nvPr/>
        </p:nvCxnSpPr>
        <p:spPr>
          <a:xfrm>
            <a:off x="2295225" y="1616545"/>
            <a:ext cx="143175" cy="130419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9009aa244_0_6"/>
          <p:cNvSpPr txBox="1"/>
          <p:nvPr/>
        </p:nvSpPr>
        <p:spPr>
          <a:xfrm>
            <a:off x="0" y="138400"/>
            <a:ext cx="121920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</a:rPr>
              <a:t>5. Range Measurement in SFCW Mode - Real Measurements: Nf=2, df=50MHz</a:t>
            </a:r>
            <a:endParaRPr/>
          </a:p>
        </p:txBody>
      </p:sp>
      <p:pic>
        <p:nvPicPr>
          <p:cNvPr id="214" name="Google Shape;214;g369009aa244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775" y="808000"/>
            <a:ext cx="7183577" cy="5897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69009aa244_0_6"/>
          <p:cNvPicPr preferRelativeResize="0"/>
          <p:nvPr/>
        </p:nvPicPr>
        <p:blipFill rotWithShape="1">
          <a:blip r:embed="rId4">
            <a:alphaModFix/>
          </a:blip>
          <a:srcRect b="49080"/>
          <a:stretch/>
        </p:blipFill>
        <p:spPr>
          <a:xfrm>
            <a:off x="7751875" y="3608875"/>
            <a:ext cx="2209800" cy="9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69009aa244_0_6"/>
          <p:cNvPicPr preferRelativeResize="0"/>
          <p:nvPr/>
        </p:nvPicPr>
        <p:blipFill rotWithShape="1">
          <a:blip r:embed="rId4">
            <a:alphaModFix/>
          </a:blip>
          <a:srcRect t="49080"/>
          <a:stretch/>
        </p:blipFill>
        <p:spPr>
          <a:xfrm>
            <a:off x="9874126" y="3608875"/>
            <a:ext cx="2209800" cy="91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69009aa244_0_6"/>
          <p:cNvSpPr txBox="1"/>
          <p:nvPr/>
        </p:nvSpPr>
        <p:spPr>
          <a:xfrm>
            <a:off x="7751875" y="4867397"/>
            <a:ext cx="44196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dirty="0" err="1">
                <a:solidFill>
                  <a:schemeClr val="dk1"/>
                </a:solidFill>
              </a:rPr>
              <a:t>Rmax</a:t>
            </a:r>
            <a:r>
              <a:rPr lang="pt-PT" sz="2400" dirty="0">
                <a:solidFill>
                  <a:schemeClr val="dk1"/>
                </a:solidFill>
              </a:rPr>
              <a:t> = 3 </a:t>
            </a:r>
            <a:r>
              <a:rPr lang="pt-PT" sz="2400" dirty="0" err="1">
                <a:solidFill>
                  <a:schemeClr val="dk1"/>
                </a:solidFill>
              </a:rPr>
              <a:t>meters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dirty="0" err="1">
                <a:solidFill>
                  <a:schemeClr val="dk1"/>
                </a:solidFill>
              </a:rPr>
              <a:t>Rresolution</a:t>
            </a:r>
            <a:r>
              <a:rPr lang="pt-PT" sz="2400" dirty="0">
                <a:solidFill>
                  <a:schemeClr val="dk1"/>
                </a:solidFill>
              </a:rPr>
              <a:t> = 1.5 </a:t>
            </a:r>
            <a:r>
              <a:rPr lang="pt-PT" sz="2400" dirty="0" err="1">
                <a:solidFill>
                  <a:schemeClr val="dk1"/>
                </a:solidFill>
              </a:rPr>
              <a:t>meters</a:t>
            </a:r>
            <a:endParaRPr sz="2400" dirty="0">
              <a:solidFill>
                <a:schemeClr val="dk1"/>
              </a:solidFill>
            </a:endParaRPr>
          </a:p>
        </p:txBody>
      </p:sp>
      <p:pic>
        <p:nvPicPr>
          <p:cNvPr id="3" name="Imagem 2" descr="Uma imagem com cortina, captura de ecrã, texto, encarnado&#10;&#10;Os conteúdos gerados por IA podem estar incorretos.">
            <a:extLst>
              <a:ext uri="{FF2B5EF4-FFF2-40B4-BE49-F238E27FC236}">
                <a16:creationId xmlns:a16="http://schemas.microsoft.com/office/drawing/2014/main" id="{67C714F9-28F5-D03B-9E35-FEAD613DBA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463" y="894075"/>
            <a:ext cx="3181811" cy="26263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9009aa244_0_97"/>
          <p:cNvSpPr txBox="1"/>
          <p:nvPr/>
        </p:nvSpPr>
        <p:spPr>
          <a:xfrm>
            <a:off x="0" y="138400"/>
            <a:ext cx="12192000" cy="7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dirty="0">
                <a:solidFill>
                  <a:schemeClr val="dk1"/>
                </a:solidFill>
              </a:rPr>
              <a:t>5. SFCW </a:t>
            </a:r>
            <a:r>
              <a:rPr lang="pt-PT" sz="2400" dirty="0" err="1">
                <a:solidFill>
                  <a:schemeClr val="dk1"/>
                </a:solidFill>
              </a:rPr>
              <a:t>Mode</a:t>
            </a:r>
            <a:r>
              <a:rPr lang="pt-PT" sz="2400" dirty="0">
                <a:solidFill>
                  <a:schemeClr val="dk1"/>
                </a:solidFill>
              </a:rPr>
              <a:t> - </a:t>
            </a:r>
            <a:r>
              <a:rPr lang="pt-PT" sz="2400" b="1" dirty="0" err="1">
                <a:solidFill>
                  <a:schemeClr val="dk1"/>
                </a:solidFill>
              </a:rPr>
              <a:t>Problem</a:t>
            </a:r>
            <a:r>
              <a:rPr lang="pt-PT" sz="2400" b="1" dirty="0">
                <a:solidFill>
                  <a:schemeClr val="dk1"/>
                </a:solidFill>
              </a:rPr>
              <a:t>: </a:t>
            </a:r>
            <a:r>
              <a:rPr lang="pt-PT" sz="2400" b="1" dirty="0" err="1">
                <a:solidFill>
                  <a:schemeClr val="dk1"/>
                </a:solidFill>
              </a:rPr>
              <a:t>phase</a:t>
            </a:r>
            <a:r>
              <a:rPr lang="pt-PT" sz="2400" b="1" dirty="0">
                <a:solidFill>
                  <a:schemeClr val="dk1"/>
                </a:solidFill>
              </a:rPr>
              <a:t> </a:t>
            </a:r>
            <a:r>
              <a:rPr lang="pt-PT" sz="2400" b="1" dirty="0" err="1">
                <a:solidFill>
                  <a:schemeClr val="dk1"/>
                </a:solidFill>
              </a:rPr>
              <a:t>coherence</a:t>
            </a:r>
            <a:r>
              <a:rPr lang="pt-PT" sz="2400" b="1" dirty="0">
                <a:solidFill>
                  <a:schemeClr val="dk1"/>
                </a:solidFill>
              </a:rPr>
              <a:t> </a:t>
            </a:r>
            <a:r>
              <a:rPr lang="pt-PT" sz="2400" b="1" dirty="0" err="1">
                <a:solidFill>
                  <a:schemeClr val="dk1"/>
                </a:solidFill>
              </a:rPr>
              <a:t>and</a:t>
            </a:r>
            <a:r>
              <a:rPr lang="pt-PT" sz="2400" b="1" dirty="0">
                <a:solidFill>
                  <a:schemeClr val="dk1"/>
                </a:solidFill>
              </a:rPr>
              <a:t> timing</a:t>
            </a:r>
            <a:endParaRPr sz="24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1" dirty="0">
                <a:solidFill>
                  <a:schemeClr val="dk1"/>
                </a:solidFill>
              </a:rPr>
              <a:t>PLL (</a:t>
            </a:r>
            <a:r>
              <a:rPr lang="pt-PT" sz="1800" b="1" dirty="0" err="1">
                <a:solidFill>
                  <a:schemeClr val="dk1"/>
                </a:solidFill>
              </a:rPr>
              <a:t>Phase</a:t>
            </a:r>
            <a:r>
              <a:rPr lang="pt-PT" sz="1800" b="1" dirty="0">
                <a:solidFill>
                  <a:schemeClr val="dk1"/>
                </a:solidFill>
              </a:rPr>
              <a:t> </a:t>
            </a:r>
            <a:r>
              <a:rPr lang="pt-PT" sz="1800" b="1" dirty="0" err="1">
                <a:solidFill>
                  <a:schemeClr val="dk1"/>
                </a:solidFill>
              </a:rPr>
              <a:t>Locked</a:t>
            </a:r>
            <a:r>
              <a:rPr lang="pt-PT" sz="1800" b="1" dirty="0">
                <a:solidFill>
                  <a:schemeClr val="dk1"/>
                </a:solidFill>
              </a:rPr>
              <a:t> Loop) </a:t>
            </a:r>
            <a:r>
              <a:rPr lang="pt-PT" sz="1800" b="1" dirty="0" err="1">
                <a:solidFill>
                  <a:schemeClr val="dk1"/>
                </a:solidFill>
              </a:rPr>
              <a:t>Retune</a:t>
            </a:r>
            <a:r>
              <a:rPr lang="pt-PT" sz="1800" b="1" dirty="0">
                <a:solidFill>
                  <a:schemeClr val="dk1"/>
                </a:solidFill>
              </a:rPr>
              <a:t> </a:t>
            </a:r>
            <a:r>
              <a:rPr lang="pt-PT" sz="1800" b="1" dirty="0" err="1">
                <a:solidFill>
                  <a:schemeClr val="dk1"/>
                </a:solidFill>
              </a:rPr>
              <a:t>and</a:t>
            </a:r>
            <a:r>
              <a:rPr lang="pt-PT" sz="1800" b="1" dirty="0">
                <a:solidFill>
                  <a:schemeClr val="dk1"/>
                </a:solidFill>
              </a:rPr>
              <a:t> </a:t>
            </a:r>
            <a:r>
              <a:rPr lang="pt-PT" sz="1800" b="1" dirty="0" err="1">
                <a:solidFill>
                  <a:schemeClr val="dk1"/>
                </a:solidFill>
              </a:rPr>
              <a:t>Start</a:t>
            </a:r>
            <a:r>
              <a:rPr lang="pt-PT" sz="1800" b="1" dirty="0">
                <a:solidFill>
                  <a:schemeClr val="dk1"/>
                </a:solidFill>
              </a:rPr>
              <a:t> </a:t>
            </a:r>
            <a:r>
              <a:rPr lang="pt-PT" sz="1800" b="1" dirty="0" err="1">
                <a:solidFill>
                  <a:schemeClr val="dk1"/>
                </a:solidFill>
              </a:rPr>
              <a:t>Phase</a:t>
            </a:r>
            <a:r>
              <a:rPr lang="pt-PT" sz="1800" b="1" dirty="0">
                <a:solidFill>
                  <a:schemeClr val="dk1"/>
                </a:solidFill>
              </a:rPr>
              <a:t> Offset in AD9364</a:t>
            </a:r>
            <a:endParaRPr sz="1800" b="1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Posição de Conteúdo 2">
                <a:extLst>
                  <a:ext uri="{FF2B5EF4-FFF2-40B4-BE49-F238E27FC236}">
                    <a16:creationId xmlns:a16="http://schemas.microsoft.com/office/drawing/2014/main" id="{12272260-95D1-1E7F-33D3-5F878AACCF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127" y="1060315"/>
                <a:ext cx="11867745" cy="43424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r>
                  <a:rPr lang="en-US" dirty="0">
                    <a:latin typeface="+mn-lt"/>
                  </a:rPr>
                  <a:t>For our SFCW radar to work, the measured phase difference (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n-lt"/>
                  </a:rPr>
                  <a:t>) between frequency steps must be </a:t>
                </a:r>
                <a:r>
                  <a:rPr lang="en-US" b="1" dirty="0">
                    <a:latin typeface="+mn-lt"/>
                  </a:rPr>
                  <a:t>only due to the target's range</a:t>
                </a:r>
                <a:r>
                  <a:rPr lang="en-US" dirty="0">
                    <a:latin typeface="+mn-lt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Ri</m:t>
                    </m:r>
                    <m: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=∆</m:t>
                    </m:r>
                    <m: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∕(4</m:t>
                    </m:r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fs</m:t>
                    </m:r>
                    <m: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assumes a perfectly phase coherence between steps.</a:t>
                </a:r>
              </a:p>
              <a:p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AD9364</a:t>
                </a:r>
                <a:r>
                  <a:rPr lang="en-US" dirty="0">
                    <a:latin typeface="+mn-lt"/>
                  </a:rPr>
                  <a:t> uses </a:t>
                </a:r>
                <a:r>
                  <a:rPr lang="en-US" i="1" dirty="0">
                    <a:latin typeface="+mn-lt"/>
                  </a:rPr>
                  <a:t>fractional-N PLL synthesizers</a:t>
                </a:r>
                <a:r>
                  <a:rPr lang="en-US" dirty="0">
                    <a:latin typeface="+mn-lt"/>
                  </a:rPr>
                  <a:t> to generate TX and RX local oscillators. [1][2]</a:t>
                </a:r>
              </a:p>
              <a:p>
                <a:r>
                  <a:rPr lang="en-US" dirty="0">
                    <a:latin typeface="+mn-lt"/>
                  </a:rPr>
                  <a:t>Changing the LO frequency forces the PLL to </a:t>
                </a:r>
                <a:r>
                  <a:rPr lang="en-US" b="1" dirty="0">
                    <a:latin typeface="+mn-lt"/>
                  </a:rPr>
                  <a:t>relock / recalibrate</a:t>
                </a:r>
                <a:r>
                  <a:rPr lang="en-US" dirty="0">
                    <a:latin typeface="+mn-lt"/>
                  </a:rPr>
                  <a:t>. [1][2]</a:t>
                </a:r>
              </a:p>
              <a:p>
                <a:r>
                  <a:rPr lang="en-US" dirty="0">
                    <a:latin typeface="+mn-lt"/>
                  </a:rPr>
                  <a:t>On relock, the </a:t>
                </a:r>
                <a:r>
                  <a:rPr lang="en-US" b="1" dirty="0">
                    <a:latin typeface="+mn-lt"/>
                  </a:rPr>
                  <a:t>absolute phase</a:t>
                </a:r>
                <a:r>
                  <a:rPr lang="en-US" dirty="0">
                    <a:latin typeface="+mn-lt"/>
                  </a:rPr>
                  <a:t> of the LO is not guaranteed to continue smoothly (a </a:t>
                </a:r>
                <a:r>
                  <a:rPr lang="en-US" b="1" dirty="0">
                    <a:latin typeface="+mn-lt"/>
                  </a:rPr>
                  <a:t>random or deterministic “start-phase offset”</a:t>
                </a:r>
                <a:r>
                  <a:rPr lang="en-US" dirty="0">
                    <a:latin typeface="+mn-lt"/>
                  </a:rPr>
                  <a:t> may occur).</a:t>
                </a:r>
              </a:p>
              <a:p>
                <a:r>
                  <a:rPr lang="en-US" dirty="0">
                    <a:latin typeface="+mn-lt"/>
                  </a:rPr>
                  <a:t>This offset adds a spurious </a:t>
                </a:r>
                <a14:m>
                  <m:oMath xmlns:m="http://schemas.openxmlformats.org/officeDocument/2006/math">
                    <m: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>
                    <a:latin typeface="+mn-lt"/>
                  </a:rPr>
                  <a:t> term </a:t>
                </a:r>
                <a:r>
                  <a:rPr lang="en-US" b="1" dirty="0">
                    <a:latin typeface="+mn-lt"/>
                  </a:rPr>
                  <a:t>unrelated to the target</a:t>
                </a:r>
                <a:r>
                  <a:rPr lang="en-US" dirty="0">
                    <a:latin typeface="+mn-lt"/>
                  </a:rPr>
                  <a:t> between steps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P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pt-P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m:rPr>
                        <m:sty m:val="p"/>
                      </m:rP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</m:t>
                    </m:r>
                  </m:oMath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4" name="Marcador de Posição de Conteúdo 2">
                <a:extLst>
                  <a:ext uri="{FF2B5EF4-FFF2-40B4-BE49-F238E27FC236}">
                    <a16:creationId xmlns:a16="http://schemas.microsoft.com/office/drawing/2014/main" id="{12272260-95D1-1E7F-33D3-5F878AACC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27" y="1060315"/>
                <a:ext cx="11867745" cy="4342454"/>
              </a:xfrm>
              <a:prstGeom prst="rect">
                <a:avLst/>
              </a:prstGeom>
              <a:blipFill>
                <a:blip r:embed="rId3"/>
                <a:stretch>
                  <a:fillRect t="-140" r="-2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18ACB60B-8532-7228-7D27-7151730BC2EA}"/>
                  </a:ext>
                </a:extLst>
              </p:cNvPr>
              <p:cNvSpPr txBox="1"/>
              <p:nvPr/>
            </p:nvSpPr>
            <p:spPr>
              <a:xfrm>
                <a:off x="2593397" y="5402769"/>
                <a:ext cx="6908686" cy="4715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800" dirty="0" smtClean="0"/>
                            <m:t>Δ</m:t>
                          </m:r>
                          <m: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measured</m:t>
                          </m:r>
                        </m:sub>
                      </m:sSub>
                      <m: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800" dirty="0" smtClean="0"/>
                            <m:t>Δ</m:t>
                          </m:r>
                          <m: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target</m:t>
                          </m:r>
                        </m:sub>
                      </m:sSub>
                      <m: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800" dirty="0" smtClean="0"/>
                            <m:t>Δ</m:t>
                          </m:r>
                          <m: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PLL</m:t>
                          </m:r>
                          <m: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offset</m:t>
                          </m:r>
                        </m:sub>
                      </m:sSub>
                      <m: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PT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18ACB60B-8532-7228-7D27-7151730BC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397" y="5402769"/>
                <a:ext cx="6908686" cy="4715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54774500-31F2-30BD-A46F-97FFF02EB400}"/>
              </a:ext>
            </a:extLst>
          </p:cNvPr>
          <p:cNvSpPr txBox="1"/>
          <p:nvPr/>
        </p:nvSpPr>
        <p:spPr>
          <a:xfrm>
            <a:off x="317495" y="6150810"/>
            <a:ext cx="1155701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PT" dirty="0"/>
              <a:t>[1] </a:t>
            </a:r>
            <a:r>
              <a:rPr lang="pt-PT" dirty="0">
                <a:hlinkClick r:id="rId5"/>
              </a:rPr>
              <a:t>https://www.analog.com/media/en/technical-documentation/data-sheets/ad9364.pdf</a:t>
            </a:r>
            <a:br>
              <a:rPr lang="pt-PT" dirty="0"/>
            </a:br>
            <a:r>
              <a:rPr lang="pt-PT" dirty="0"/>
              <a:t>[2] </a:t>
            </a:r>
            <a:r>
              <a:rPr lang="pt-PT" dirty="0">
                <a:hlinkClick r:id="rId6"/>
              </a:rPr>
              <a:t>https://www.analog.com/media/cn/technical-documentation/user-guides/ad9364_reference_manual_ug-673.pdf</a:t>
            </a:r>
            <a:endParaRPr lang="pt-PT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69009aa244_0_106"/>
          <p:cNvSpPr txBox="1"/>
          <p:nvPr/>
        </p:nvSpPr>
        <p:spPr>
          <a:xfrm>
            <a:off x="0" y="138400"/>
            <a:ext cx="12192000" cy="7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</a:rPr>
              <a:t>5. SFCW Mode - </a:t>
            </a:r>
            <a:r>
              <a:rPr lang="pt-PT" sz="2400" b="1">
                <a:solidFill>
                  <a:schemeClr val="dk1"/>
                </a:solidFill>
              </a:rPr>
              <a:t>Problem: phase coherence and timing</a:t>
            </a:r>
            <a:endParaRPr sz="24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1">
                <a:solidFill>
                  <a:schemeClr val="dk1"/>
                </a:solidFill>
              </a:rPr>
              <a:t>Impact of Phase Jump on SFCW Range Estimation</a:t>
            </a:r>
            <a:endParaRPr sz="1800" b="1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Marcador de Posição de Conteúdo 2">
                <a:extLst>
                  <a:ext uri="{FF2B5EF4-FFF2-40B4-BE49-F238E27FC236}">
                    <a16:creationId xmlns:a16="http://schemas.microsoft.com/office/drawing/2014/main" id="{3BE113A8-5591-9F13-4BD4-3E3AD222C3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011488"/>
                <a:ext cx="10419080" cy="2190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r>
                  <a:rPr lang="en-US" dirty="0"/>
                  <a:t>In 2 step SFCW: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Δ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meas</m:t>
                        </m:r>
                        <m:r>
                          <m:rPr>
                            <m:sty m:val="p"/>
                          </m:rP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ured</m:t>
                        </m:r>
                      </m:sub>
                    </m:sSub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2)−</m:t>
                    </m:r>
                    <m: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1)+</m:t>
                    </m:r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Δ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PLL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This extra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Δ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PLL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/>
                  <a:t>maps to a range error: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pt-PT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P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P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num>
                      <m:den>
                        <m:r>
                          <a:rPr lang="pt-P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pt-P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pt-P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</m:t>
                        </m:r>
                        <m:r>
                          <a:rPr lang="pt-P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2−</m:t>
                        </m:r>
                        <m:r>
                          <m:rPr>
                            <m:sty m:val="p"/>
                          </m:rPr>
                          <a:rPr lang="pt-P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</m:t>
                        </m:r>
                        <m:r>
                          <a:rPr lang="pt-P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1)</m:t>
                        </m:r>
                      </m:den>
                    </m:f>
                    <m: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pt-P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Δ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PLL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A phase jump corrupts the unwrapping decision, so the actual estimated range can have a bigger error.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Marcador de Posição de Conteúdo 2">
                <a:extLst>
                  <a:ext uri="{FF2B5EF4-FFF2-40B4-BE49-F238E27FC236}">
                    <a16:creationId xmlns:a16="http://schemas.microsoft.com/office/drawing/2014/main" id="{3BE113A8-5591-9F13-4BD4-3E3AD222C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11488"/>
                <a:ext cx="10419080" cy="2190793"/>
              </a:xfrm>
              <a:prstGeom prst="rect">
                <a:avLst/>
              </a:prstGeom>
              <a:blipFill>
                <a:blip r:embed="rId3"/>
                <a:stretch>
                  <a:fillRect b="-13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1354A9B-F81E-719F-1747-B0AB82829669}"/>
                  </a:ext>
                </a:extLst>
              </p:cNvPr>
              <p:cNvSpPr txBox="1"/>
              <p:nvPr/>
            </p:nvSpPr>
            <p:spPr>
              <a:xfrm>
                <a:off x="2421909" y="5670495"/>
                <a:ext cx="6908686" cy="4715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800" dirty="0" smtClean="0"/>
                            <m:t>Δ</m:t>
                          </m:r>
                          <m: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measured</m:t>
                          </m:r>
                        </m:sub>
                      </m:sSub>
                      <m: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800" dirty="0" smtClean="0"/>
                            <m:t>Δ</m:t>
                          </m:r>
                          <m: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target</m:t>
                          </m:r>
                        </m:sub>
                      </m:sSub>
                      <m: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800" dirty="0" smtClean="0"/>
                            <m:t>Δ</m:t>
                          </m:r>
                          <m: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PLL</m:t>
                          </m:r>
                          <m: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offset</m:t>
                          </m:r>
                        </m:sub>
                      </m:sSub>
                      <m: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PT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1354A9B-F81E-719F-1747-B0AB82829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909" y="5670495"/>
                <a:ext cx="6908686" cy="4715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CB9729A-3723-7CDF-8AE6-6E711FED791B}"/>
              </a:ext>
            </a:extLst>
          </p:cNvPr>
          <p:cNvSpPr/>
          <p:nvPr/>
        </p:nvSpPr>
        <p:spPr>
          <a:xfrm>
            <a:off x="492006" y="1655718"/>
            <a:ext cx="2667753" cy="8875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 err="1"/>
              <a:t>set_center_freq</a:t>
            </a:r>
            <a:r>
              <a:rPr lang="pt-PT" sz="1600" dirty="0"/>
              <a:t>(5.80e9)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7D21D5E-9716-DC85-B558-BEF87326DBFC}"/>
              </a:ext>
            </a:extLst>
          </p:cNvPr>
          <p:cNvSpPr/>
          <p:nvPr/>
        </p:nvSpPr>
        <p:spPr>
          <a:xfrm>
            <a:off x="5495148" y="1655718"/>
            <a:ext cx="2667753" cy="8875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 err="1"/>
              <a:t>set_center_freq</a:t>
            </a:r>
            <a:r>
              <a:rPr lang="pt-PT" sz="1600" dirty="0"/>
              <a:t>(5.85e9)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FFC90F6-EC4F-CCF7-5367-9301A3550CD6}"/>
              </a:ext>
            </a:extLst>
          </p:cNvPr>
          <p:cNvSpPr/>
          <p:nvPr/>
        </p:nvSpPr>
        <p:spPr>
          <a:xfrm>
            <a:off x="3719313" y="1655718"/>
            <a:ext cx="1216281" cy="8875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 err="1"/>
              <a:t>acquire</a:t>
            </a:r>
            <a:endParaRPr lang="pt-PT" sz="1600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983C685-B47A-4D25-C3F7-47DFE4A8C715}"/>
              </a:ext>
            </a:extLst>
          </p:cNvPr>
          <p:cNvSpPr/>
          <p:nvPr/>
        </p:nvSpPr>
        <p:spPr>
          <a:xfrm>
            <a:off x="8722455" y="1655718"/>
            <a:ext cx="1216281" cy="8875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 err="1"/>
              <a:t>acquire</a:t>
            </a:r>
            <a:endParaRPr lang="pt-PT" sz="1600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A9462A7-083F-DD22-5E79-275CE09452B8}"/>
              </a:ext>
            </a:extLst>
          </p:cNvPr>
          <p:cNvSpPr/>
          <p:nvPr/>
        </p:nvSpPr>
        <p:spPr>
          <a:xfrm>
            <a:off x="10498290" y="1655718"/>
            <a:ext cx="1216281" cy="8875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…</a:t>
            </a:r>
          </a:p>
        </p:txBody>
      </p:sp>
      <p:cxnSp>
        <p:nvCxnSpPr>
          <p:cNvPr id="9" name="Conexão reta unidirecional 8">
            <a:extLst>
              <a:ext uri="{FF2B5EF4-FFF2-40B4-BE49-F238E27FC236}">
                <a16:creationId xmlns:a16="http://schemas.microsoft.com/office/drawing/2014/main" id="{1937316D-F111-5222-B253-8228EC2F4199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159759" y="2099496"/>
            <a:ext cx="5595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xão reta unidirecional 9">
            <a:extLst>
              <a:ext uri="{FF2B5EF4-FFF2-40B4-BE49-F238E27FC236}">
                <a16:creationId xmlns:a16="http://schemas.microsoft.com/office/drawing/2014/main" id="{1E3C5D8B-C159-483E-62B6-376D8DCBEF82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4935594" y="2099496"/>
            <a:ext cx="5595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xão reta unidirecional 10">
            <a:extLst>
              <a:ext uri="{FF2B5EF4-FFF2-40B4-BE49-F238E27FC236}">
                <a16:creationId xmlns:a16="http://schemas.microsoft.com/office/drawing/2014/main" id="{25514710-1AC6-6B42-8F19-C2FBE388575F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8162901" y="2099496"/>
            <a:ext cx="5595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9135A911-05FD-32AF-285D-FA09183EF0A2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9938736" y="2099496"/>
            <a:ext cx="5595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69009aa244_0_110"/>
          <p:cNvSpPr txBox="1"/>
          <p:nvPr/>
        </p:nvSpPr>
        <p:spPr>
          <a:xfrm>
            <a:off x="0" y="138400"/>
            <a:ext cx="12192000" cy="57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dirty="0">
                <a:solidFill>
                  <a:schemeClr val="dk1"/>
                </a:solidFill>
              </a:rPr>
              <a:t>5. SFCW </a:t>
            </a:r>
            <a:r>
              <a:rPr lang="pt-PT" sz="2800" dirty="0" err="1">
                <a:solidFill>
                  <a:schemeClr val="dk1"/>
                </a:solidFill>
              </a:rPr>
              <a:t>Mode</a:t>
            </a:r>
            <a:r>
              <a:rPr lang="pt-PT" sz="2800" dirty="0">
                <a:solidFill>
                  <a:schemeClr val="dk1"/>
                </a:solidFill>
              </a:rPr>
              <a:t> - </a:t>
            </a:r>
            <a:r>
              <a:rPr lang="pt-PT" sz="2800" b="1" u="sng" dirty="0" err="1">
                <a:solidFill>
                  <a:schemeClr val="dk1"/>
                </a:solidFill>
              </a:rPr>
              <a:t>Possible</a:t>
            </a:r>
            <a:r>
              <a:rPr lang="pt-PT" sz="2800" b="1" dirty="0">
                <a:solidFill>
                  <a:schemeClr val="dk1"/>
                </a:solidFill>
              </a:rPr>
              <a:t> (</a:t>
            </a:r>
            <a:r>
              <a:rPr lang="pt-PT" sz="2800" b="1" dirty="0" err="1">
                <a:solidFill>
                  <a:srgbClr val="FF0000"/>
                </a:solidFill>
              </a:rPr>
              <a:t>limited</a:t>
            </a:r>
            <a:r>
              <a:rPr lang="pt-PT" sz="2800" b="1" dirty="0">
                <a:solidFill>
                  <a:schemeClr val="dk1"/>
                </a:solidFill>
              </a:rPr>
              <a:t>) </a:t>
            </a:r>
            <a:r>
              <a:rPr lang="pt-PT" sz="2800" b="1" dirty="0" err="1">
                <a:solidFill>
                  <a:schemeClr val="dk1"/>
                </a:solidFill>
              </a:rPr>
              <a:t>Solution</a:t>
            </a:r>
            <a:r>
              <a:rPr lang="pt-PT" sz="2800" b="1" dirty="0">
                <a:solidFill>
                  <a:schemeClr val="dk1"/>
                </a:solidFill>
              </a:rPr>
              <a:t> </a:t>
            </a:r>
            <a:r>
              <a:rPr lang="pt-PT" sz="2800" b="1" dirty="0">
                <a:solidFill>
                  <a:srgbClr val="FF0000"/>
                </a:solidFill>
              </a:rPr>
              <a:t>???</a:t>
            </a:r>
            <a:endParaRPr sz="1800" b="1" dirty="0">
              <a:solidFill>
                <a:srgbClr val="FF0000"/>
              </a:solidFill>
            </a:endParaRPr>
          </a:p>
        </p:txBody>
      </p:sp>
      <p:sp>
        <p:nvSpPr>
          <p:cNvPr id="2" name="Marcador de Posição de Conteúdo 2">
            <a:extLst>
              <a:ext uri="{FF2B5EF4-FFF2-40B4-BE49-F238E27FC236}">
                <a16:creationId xmlns:a16="http://schemas.microsoft.com/office/drawing/2014/main" id="{A2E80FFA-D5E8-78BF-34EF-4B06C6D7A392}"/>
              </a:ext>
            </a:extLst>
          </p:cNvPr>
          <p:cNvSpPr txBox="1">
            <a:spLocks/>
          </p:cNvSpPr>
          <p:nvPr/>
        </p:nvSpPr>
        <p:spPr>
          <a:xfrm>
            <a:off x="564636" y="865762"/>
            <a:ext cx="11062727" cy="585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If feasible, we could modify GNU radio to avoid</a:t>
            </a:r>
            <a:r>
              <a:rPr lang="pt-PT" dirty="0"/>
              <a:t> </a:t>
            </a:r>
            <a:r>
              <a:rPr lang="pt-PT" dirty="0" err="1"/>
              <a:t>set_center_freq</a:t>
            </a:r>
            <a:r>
              <a:rPr lang="pt-PT" dirty="0"/>
              <a:t>()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instead</a:t>
            </a:r>
            <a:r>
              <a:rPr lang="pt-PT" dirty="0"/>
              <a:t> </a:t>
            </a:r>
            <a:r>
              <a:rPr lang="pt-PT" dirty="0" err="1"/>
              <a:t>apply</a:t>
            </a:r>
            <a:r>
              <a:rPr lang="pt-PT" dirty="0"/>
              <a:t> a </a:t>
            </a:r>
            <a:r>
              <a:rPr lang="pt-PT" dirty="0" err="1"/>
              <a:t>frequency</a:t>
            </a:r>
            <a:r>
              <a:rPr lang="pt-PT" dirty="0"/>
              <a:t> </a:t>
            </a:r>
            <a:r>
              <a:rPr lang="pt-PT" dirty="0" err="1"/>
              <a:t>shift</a:t>
            </a:r>
            <a:r>
              <a:rPr lang="pt-PT" dirty="0"/>
              <a:t> in </a:t>
            </a:r>
            <a:r>
              <a:rPr lang="pt-PT" dirty="0" err="1"/>
              <a:t>other</a:t>
            </a:r>
            <a:r>
              <a:rPr lang="pt-PT" dirty="0"/>
              <a:t> </a:t>
            </a:r>
            <a:r>
              <a:rPr lang="pt-PT" dirty="0" err="1"/>
              <a:t>way</a:t>
            </a:r>
            <a:r>
              <a:rPr lang="pt-PT" dirty="0"/>
              <a:t> (</a:t>
            </a:r>
            <a:r>
              <a:rPr lang="en-US" dirty="0"/>
              <a:t>within the max instantaneous BW).</a:t>
            </a:r>
          </a:p>
          <a:p>
            <a:r>
              <a:rPr lang="en-US" dirty="0"/>
              <a:t>This prevents the </a:t>
            </a:r>
            <a:r>
              <a:rPr lang="en-US" b="1" dirty="0"/>
              <a:t>AD9364 PLL </a:t>
            </a:r>
            <a:r>
              <a:rPr lang="en-US" dirty="0"/>
              <a:t>from</a:t>
            </a:r>
            <a:r>
              <a:rPr lang="en-US" b="1" dirty="0"/>
              <a:t> re-locking</a:t>
            </a:r>
            <a:r>
              <a:rPr lang="en-US" dirty="0"/>
              <a:t>, </a:t>
            </a:r>
            <a:r>
              <a:rPr lang="en-US" b="1" dirty="0"/>
              <a:t>maintaining phase coherence</a:t>
            </a:r>
            <a:r>
              <a:rPr lang="en-US" dirty="0"/>
              <a:t>.</a:t>
            </a:r>
            <a:endParaRPr lang="pt-PT" dirty="0"/>
          </a:p>
          <a:p>
            <a:r>
              <a:rPr lang="en-US" dirty="0"/>
              <a:t>Possibly, setting a center frequency e.g. 9,825 GHz and using some type of </a:t>
            </a:r>
            <a:r>
              <a:rPr lang="en-US" b="1" dirty="0"/>
              <a:t>“Digital LO offset”</a:t>
            </a:r>
            <a:r>
              <a:rPr lang="en-US" dirty="0"/>
              <a:t>, manually mixing the signal in software (&lt;=BW) and applying it through a shift (</a:t>
            </a:r>
            <a:r>
              <a:rPr lang="pt-PT" dirty="0"/>
              <a:t>±25MHz</a:t>
            </a:r>
            <a:r>
              <a:rPr lang="en-US" dirty="0"/>
              <a:t>) within Signal Source.</a:t>
            </a:r>
          </a:p>
          <a:p>
            <a:pPr lvl="1"/>
            <a:r>
              <a:rPr lang="en-US" dirty="0"/>
              <a:t>However… for a minimum useful range, e.g. 3 m, we need almost full inst. BW (</a:t>
            </a:r>
            <a:r>
              <a:rPr lang="en-US" dirty="0" err="1"/>
              <a:t>df</a:t>
            </a:r>
            <a:r>
              <a:rPr lang="en-US" dirty="0"/>
              <a:t>=50 MHz ≈ 56 MHz). So, we are </a:t>
            </a:r>
            <a:r>
              <a:rPr lang="en-US" dirty="0">
                <a:solidFill>
                  <a:srgbClr val="FF0000"/>
                </a:solidFill>
              </a:rPr>
              <a:t>limited</a:t>
            </a:r>
            <a:r>
              <a:rPr lang="en-US" dirty="0"/>
              <a:t> with 2 steps.</a:t>
            </a:r>
          </a:p>
          <a:p>
            <a:pPr lvl="1"/>
            <a:r>
              <a:rPr lang="en-US" dirty="0"/>
              <a:t>It has also implications in how we receive the signal.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7"/>
          <p:cNvSpPr txBox="1"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pt-PT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Plan for Next Week (Sub-groups 1 and 2)</a:t>
            </a:r>
            <a:endParaRPr/>
          </a:p>
        </p:txBody>
      </p:sp>
      <p:sp>
        <p:nvSpPr>
          <p:cNvPr id="240" name="Google Shape;240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endParaRPr lang="pt-PT" dirty="0"/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endParaRPr lang="pt-PT" dirty="0"/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PT" dirty="0" err="1"/>
              <a:t>Report</a:t>
            </a:r>
            <a:endParaRPr dirty="0"/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PT" sz="2800" dirty="0"/>
              <a:t>Question </a:t>
            </a:r>
            <a:r>
              <a:rPr lang="pt-PT" sz="2800" dirty="0" err="1"/>
              <a:t>regarding</a:t>
            </a:r>
            <a:r>
              <a:rPr lang="pt-PT" sz="2800" dirty="0"/>
              <a:t> </a:t>
            </a:r>
            <a:r>
              <a:rPr lang="pt-PT" sz="2800" dirty="0" err="1">
                <a:solidFill>
                  <a:srgbClr val="212121"/>
                </a:solidFill>
                <a:highlight>
                  <a:srgbClr val="FFFFFF"/>
                </a:highlight>
              </a:rPr>
              <a:t>parameter</a:t>
            </a:r>
            <a:r>
              <a:rPr lang="pt-PT" sz="2800" dirty="0">
                <a:solidFill>
                  <a:srgbClr val="212121"/>
                </a:solidFill>
                <a:highlight>
                  <a:srgbClr val="FFFFFF"/>
                </a:highlight>
              </a:rPr>
              <a:t> data (S11, S21, S12, </a:t>
            </a:r>
            <a:r>
              <a:rPr lang="pt-PT" sz="2800" dirty="0" err="1">
                <a:solidFill>
                  <a:srgbClr val="212121"/>
                </a:solidFill>
                <a:highlight>
                  <a:srgbClr val="FFFFFF"/>
                </a:highlight>
              </a:rPr>
              <a:t>and</a:t>
            </a:r>
            <a:r>
              <a:rPr lang="pt-PT" sz="2800" dirty="0">
                <a:solidFill>
                  <a:srgbClr val="212121"/>
                </a:solidFill>
                <a:highlight>
                  <a:srgbClr val="FFFFFF"/>
                </a:highlight>
              </a:rPr>
              <a:t> S22) </a:t>
            </a:r>
            <a:r>
              <a:rPr lang="pt-PT" sz="2800" dirty="0" err="1">
                <a:solidFill>
                  <a:srgbClr val="212121"/>
                </a:solidFill>
                <a:highlight>
                  <a:srgbClr val="FFFFFF"/>
                </a:highlight>
              </a:rPr>
              <a:t>of</a:t>
            </a:r>
            <a:r>
              <a:rPr lang="pt-PT" sz="2800" dirty="0">
                <a:solidFill>
                  <a:srgbClr val="212121"/>
                </a:solidFill>
                <a:highlight>
                  <a:srgbClr val="FFFFFF"/>
                </a:highlight>
              </a:rPr>
              <a:t> </a:t>
            </a:r>
            <a:r>
              <a:rPr lang="pt-PT" sz="2800" dirty="0" err="1">
                <a:solidFill>
                  <a:srgbClr val="212121"/>
                </a:solidFill>
                <a:highlight>
                  <a:srgbClr val="FFFFFF"/>
                </a:highlight>
              </a:rPr>
              <a:t>amplifiers</a:t>
            </a:r>
            <a:endParaRPr sz="2800" dirty="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marL="9144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PT" sz="3200" dirty="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marL="9144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PT" dirty="0"/>
              <a:t>Final </a:t>
            </a:r>
            <a:r>
              <a:rPr lang="pt-PT" dirty="0" err="1"/>
              <a:t>Presentation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1250</Words>
  <Application>Microsoft Office PowerPoint</Application>
  <PresentationFormat>Ecrã Panorâmico</PresentationFormat>
  <Paragraphs>135</Paragraphs>
  <Slides>22</Slides>
  <Notes>21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22</vt:i4>
      </vt:variant>
    </vt:vector>
  </HeadingPairs>
  <TitlesOfParts>
    <vt:vector size="27" baseType="lpstr">
      <vt:lpstr>Wingdings</vt:lpstr>
      <vt:lpstr>Play</vt:lpstr>
      <vt:lpstr>Arial</vt:lpstr>
      <vt:lpstr>Cambria Math</vt:lpstr>
      <vt:lpstr>Tema do Office</vt:lpstr>
      <vt:lpstr>Review Meeting 6</vt:lpstr>
      <vt:lpstr>Week Achievements: SDR Radar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Plan for Next Week (Sub-groups 1 and 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RAFAEL ANTÓNIO DA CRUZ RODRIGUES</dc:creator>
  <cp:lastModifiedBy>RAFAEL ANTÓNIO DA CRUZ RODRIGUES</cp:lastModifiedBy>
  <cp:revision>3</cp:revision>
  <dcterms:created xsi:type="dcterms:W3CDTF">2025-09-08T20:04:49Z</dcterms:created>
  <dcterms:modified xsi:type="dcterms:W3CDTF">2025-10-14T01:37:12Z</dcterms:modified>
</cp:coreProperties>
</file>